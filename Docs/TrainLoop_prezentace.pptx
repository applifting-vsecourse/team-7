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9" r:id="rId5"/>
    <p:sldId id="266" r:id="rId6"/>
    <p:sldId id="267" r:id="rId7"/>
    <p:sldId id="271" r:id="rId8"/>
    <p:sldId id="270" r:id="rId9"/>
    <p:sldId id="268" r:id="rId10"/>
    <p:sldId id="259" r:id="rId11"/>
    <p:sldId id="261" r:id="rId12"/>
    <p:sldId id="262" r:id="rId13"/>
    <p:sldId id="263" r:id="rId14"/>
    <p:sldId id="264" r:id="rId15"/>
    <p:sldId id="26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Úvod" id="{4158F83B-D457-C380-BA14-89921A8EA703}">
          <p14:sldIdLst>
            <p14:sldId id="256"/>
            <p14:sldId id="257"/>
          </p14:sldIdLst>
        </p14:section>
        <p14:section name="Lean Canvas" id="{42DDE070-6149-D673-50ED-8C1BD64AC784}">
          <p14:sldIdLst>
            <p14:sldId id="258"/>
            <p14:sldId id="269"/>
            <p14:sldId id="266"/>
            <p14:sldId id="267"/>
            <p14:sldId id="271"/>
            <p14:sldId id="270"/>
            <p14:sldId id="268"/>
          </p14:sldIdLst>
        </p14:section>
        <p14:section name="Feature breakdown" id="{FCB245BC-88F0-8361-58DA-0203F0449886}">
          <p14:sldIdLst>
            <p14:sldId id="259"/>
          </p14:sldIdLst>
        </p14:section>
        <p14:section name="Rozhovor" id="{FAE15B04-544D-8BF1-CF2D-89B31624A8B6}">
          <p14:sldIdLst>
            <p14:sldId id="261"/>
            <p14:sldId id="262"/>
            <p14:sldId id="263"/>
          </p14:sldIdLst>
        </p14:section>
        <p14:section name="Product Backlog" id="{F645C0FF-2684-3F17-DF68-32D364C3AC5A}">
          <p14:sldIdLst>
            <p14:sldId id="264"/>
          </p14:sldIdLst>
        </p14:section>
        <p14:section name="Design" id="{6B88DEAC-68DA-2E02-CF89-AADA430156F1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4270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83464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TrainLoop · Tým 7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634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TrainLoop · Tým 7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  <p:sp>
        <p:nvSpPr>
          <p:cNvPr id="4" name="Text 1"/>
          <p:cNvSpPr>
            <a:spLocks noGrp="1"/>
          </p:cNvSpPr>
          <p:nvPr>
            <p:ph idx="102" hasCustomPrompt="1"/>
          </p:nvPr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Vložte obrázek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634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634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400" b="1" dirty="0">
                <a:solidFill>
                  <a:schemeClr val="bg1"/>
                </a:solidFill>
              </a:rPr>
              <a:t>TrainLoop</a:t>
            </a: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834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Plánovač a tréninkový deník pro psa · Tým 7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Obsah</a:t>
            </a:r>
            <a:endParaRPr lang="en-US" sz="3200" dirty="0"/>
          </a:p>
        </p:txBody>
      </p:sp>
      <p:sp>
        <p:nvSpPr>
          <p:cNvPr id="3" name="Agenda 1"/>
          <p:cNvSpPr/>
          <p:nvPr/>
        </p:nvSpPr>
        <p:spPr>
          <a:xfrm>
            <a:off x="548640" y="1234440"/>
            <a:ext cx="2499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Text 2"/>
          <p:cNvSpPr txBox="1"/>
          <p:nvPr/>
        </p:nvSpPr>
        <p:spPr>
          <a:xfrm>
            <a:off x="822960" y="1463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01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195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Lean Canvas</a:t>
            </a:r>
            <a:endParaRPr lang="en-US" sz="1800" dirty="0"/>
          </a:p>
        </p:txBody>
      </p:sp>
      <p:sp>
        <p:nvSpPr>
          <p:cNvPr id="6" name="Agenda 2"/>
          <p:cNvSpPr/>
          <p:nvPr/>
        </p:nvSpPr>
        <p:spPr>
          <a:xfrm>
            <a:off x="3322320" y="1234440"/>
            <a:ext cx="2499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 txBox="1"/>
          <p:nvPr/>
        </p:nvSpPr>
        <p:spPr>
          <a:xfrm>
            <a:off x="3596640" y="1463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02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3596640" y="2011680"/>
            <a:ext cx="195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Feature breakdown</a:t>
            </a:r>
            <a:endParaRPr lang="en-US" sz="1800" dirty="0"/>
          </a:p>
        </p:txBody>
      </p:sp>
      <p:sp>
        <p:nvSpPr>
          <p:cNvPr id="9" name="Agenda 3"/>
          <p:cNvSpPr/>
          <p:nvPr/>
        </p:nvSpPr>
        <p:spPr>
          <a:xfrm>
            <a:off x="6096000" y="1234440"/>
            <a:ext cx="2499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 txBox="1"/>
          <p:nvPr/>
        </p:nvSpPr>
        <p:spPr>
          <a:xfrm>
            <a:off x="6370320" y="1463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03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370320" y="2011680"/>
            <a:ext cx="195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Rozhovor a zjištění</a:t>
            </a:r>
            <a:endParaRPr lang="en-US" sz="1800" dirty="0"/>
          </a:p>
        </p:txBody>
      </p:sp>
      <p:sp>
        <p:nvSpPr>
          <p:cNvPr id="12" name="Agenda 4"/>
          <p:cNvSpPr/>
          <p:nvPr/>
        </p:nvSpPr>
        <p:spPr>
          <a:xfrm>
            <a:off x="548640" y="2971800"/>
            <a:ext cx="2499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 txBox="1"/>
          <p:nvPr/>
        </p:nvSpPr>
        <p:spPr>
          <a:xfrm>
            <a:off x="822960" y="3200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04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749040"/>
            <a:ext cx="195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Product Backlog</a:t>
            </a:r>
            <a:endParaRPr lang="en-US" sz="1800" dirty="0"/>
          </a:p>
        </p:txBody>
      </p:sp>
      <p:sp>
        <p:nvSpPr>
          <p:cNvPr id="15" name="Agenda 5"/>
          <p:cNvSpPr/>
          <p:nvPr/>
        </p:nvSpPr>
        <p:spPr>
          <a:xfrm>
            <a:off x="3322320" y="2971800"/>
            <a:ext cx="2499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 txBox="1"/>
          <p:nvPr/>
        </p:nvSpPr>
        <p:spPr>
          <a:xfrm>
            <a:off x="3596640" y="3200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05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3596640" y="3749040"/>
            <a:ext cx="195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Sitemapa a wireframy</a:t>
            </a:r>
            <a:endParaRPr lang="en-US" sz="1800" dirty="0"/>
          </a:p>
        </p:txBody>
      </p:sp>
      <p:sp>
        <p:nvSpPr>
          <p:cNvPr id="18" name="Agenda 6"/>
          <p:cNvSpPr/>
          <p:nvPr/>
        </p:nvSpPr>
        <p:spPr>
          <a:xfrm>
            <a:off x="6096000" y="2971800"/>
            <a:ext cx="2499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 txBox="1"/>
          <p:nvPr/>
        </p:nvSpPr>
        <p:spPr>
          <a:xfrm>
            <a:off x="6370320" y="3200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06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6370320" y="3749040"/>
            <a:ext cx="195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První verze designu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634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Lean Canvas</a:t>
            </a:r>
            <a:r>
              <a:rPr lang="cs-CZ" sz="3200" b="1" dirty="0">
                <a:solidFill>
                  <a:schemeClr val="tx1"/>
                </a:solidFill>
              </a:rPr>
              <a:t> MPV</a:t>
            </a:r>
            <a:endParaRPr lang="en-US" sz="3200" dirty="0"/>
          </a:p>
        </p:txBody>
      </p:sp>
      <p:sp>
        <p:nvSpPr>
          <p:cNvPr id="3" name="Text 1"/>
          <p:cNvSpPr>
            <a:spLocks noGrp="1"/>
          </p:cNvSpPr>
          <p:nvPr>
            <p:ph idx="102" hasCustomPrompt="1"/>
          </p:nvPr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634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E51667B-E99C-1F49-4519-E6EF5869555A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cs-CZ" dirty="0" err="1"/>
              <a:t>Lean</a:t>
            </a:r>
            <a:r>
              <a:rPr lang="cs-CZ" dirty="0"/>
              <a:t> </a:t>
            </a:r>
            <a:r>
              <a:rPr lang="cs-CZ" dirty="0" err="1"/>
              <a:t>Canvas</a:t>
            </a:r>
            <a:r>
              <a:rPr lang="cs-CZ" dirty="0"/>
              <a:t> PREMIUM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3875AB3-0BBF-CF43-5C6B-423BD00606FC}"/>
              </a:ext>
            </a:extLst>
          </p:cNvPr>
          <p:cNvSpPr>
            <a:spLocks noGrp="1"/>
          </p:cNvSpPr>
          <p:nvPr>
            <p:ph idx="102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60249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281074E-E51E-E26D-2AF3-9E26B7B9CC31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cs-CZ" dirty="0"/>
              <a:t>Náklady provoz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BF3E03B-C1D9-CF12-5B28-1865908988D5}"/>
              </a:ext>
            </a:extLst>
          </p:cNvPr>
          <p:cNvSpPr>
            <a:spLocks noGrp="1"/>
          </p:cNvSpPr>
          <p:nvPr>
            <p:ph idx="102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7B168A60-ED97-3F40-751E-8BB77AD78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57" y="881431"/>
            <a:ext cx="8850086" cy="3896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289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42D26D3-BC43-A403-DA56-3360055EBB9D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cs-CZ" dirty="0"/>
              <a:t>Náklady vývoj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53DEB53-2CD3-5A81-1544-E70522CDB707}"/>
              </a:ext>
            </a:extLst>
          </p:cNvPr>
          <p:cNvSpPr>
            <a:spLocks noGrp="1"/>
          </p:cNvSpPr>
          <p:nvPr>
            <p:ph idx="102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C058C965-C706-A4A4-C434-4AF1531AA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977" y="1117760"/>
            <a:ext cx="8288383" cy="3433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788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71C1C39-5D2F-24C0-6274-668A8ECC37F6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cs-CZ" dirty="0"/>
              <a:t>Ceník</a:t>
            </a:r>
          </a:p>
        </p:txBody>
      </p:sp>
      <p:graphicFrame>
        <p:nvGraphicFramePr>
          <p:cNvPr id="4" name="Zástupný obsah 3">
            <a:extLst>
              <a:ext uri="{FF2B5EF4-FFF2-40B4-BE49-F238E27FC236}">
                <a16:creationId xmlns:a16="http://schemas.microsoft.com/office/drawing/2014/main" id="{2F45A592-3597-C03D-AF6A-030B0DEA06F5}"/>
              </a:ext>
            </a:extLst>
          </p:cNvPr>
          <p:cNvGraphicFramePr>
            <a:graphicFrameLocks noGrp="1"/>
          </p:cNvGraphicFramePr>
          <p:nvPr>
            <p:ph idx="102"/>
            <p:extLst>
              <p:ext uri="{D42A27DB-BD31-4B8C-83A1-F6EECF244321}">
                <p14:modId xmlns:p14="http://schemas.microsoft.com/office/powerpoint/2010/main" val="794893515"/>
              </p:ext>
            </p:extLst>
          </p:nvPr>
        </p:nvGraphicFramePr>
        <p:xfrm>
          <a:off x="431710" y="1402898"/>
          <a:ext cx="8045449" cy="31765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9705">
                  <a:extLst>
                    <a:ext uri="{9D8B030D-6E8A-4147-A177-3AD203B41FA5}">
                      <a16:colId xmlns:a16="http://schemas.microsoft.com/office/drawing/2014/main" val="3111882005"/>
                    </a:ext>
                  </a:extLst>
                </a:gridCol>
                <a:gridCol w="839786">
                  <a:extLst>
                    <a:ext uri="{9D8B030D-6E8A-4147-A177-3AD203B41FA5}">
                      <a16:colId xmlns:a16="http://schemas.microsoft.com/office/drawing/2014/main" val="1126504626"/>
                    </a:ext>
                  </a:extLst>
                </a:gridCol>
                <a:gridCol w="682326">
                  <a:extLst>
                    <a:ext uri="{9D8B030D-6E8A-4147-A177-3AD203B41FA5}">
                      <a16:colId xmlns:a16="http://schemas.microsoft.com/office/drawing/2014/main" val="1534827293"/>
                    </a:ext>
                  </a:extLst>
                </a:gridCol>
                <a:gridCol w="682326">
                  <a:extLst>
                    <a:ext uri="{9D8B030D-6E8A-4147-A177-3AD203B41FA5}">
                      <a16:colId xmlns:a16="http://schemas.microsoft.com/office/drawing/2014/main" val="1256171656"/>
                    </a:ext>
                  </a:extLst>
                </a:gridCol>
                <a:gridCol w="682326">
                  <a:extLst>
                    <a:ext uri="{9D8B030D-6E8A-4147-A177-3AD203B41FA5}">
                      <a16:colId xmlns:a16="http://schemas.microsoft.com/office/drawing/2014/main" val="2717921277"/>
                    </a:ext>
                  </a:extLst>
                </a:gridCol>
                <a:gridCol w="739811">
                  <a:extLst>
                    <a:ext uri="{9D8B030D-6E8A-4147-A177-3AD203B41FA5}">
                      <a16:colId xmlns:a16="http://schemas.microsoft.com/office/drawing/2014/main" val="3641688168"/>
                    </a:ext>
                  </a:extLst>
                </a:gridCol>
                <a:gridCol w="3259169">
                  <a:extLst>
                    <a:ext uri="{9D8B030D-6E8A-4147-A177-3AD203B41FA5}">
                      <a16:colId xmlns:a16="http://schemas.microsoft.com/office/drawing/2014/main" val="748823806"/>
                    </a:ext>
                  </a:extLst>
                </a:gridCol>
              </a:tblGrid>
              <a:tr h="2776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cs-CZ" sz="1400" u="none" strike="noStrike" dirty="0">
                          <a:effectLst/>
                        </a:rPr>
                        <a:t>Tarif</a:t>
                      </a:r>
                      <a:endParaRPr lang="cs-CZ" sz="14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Pro koho</a:t>
                      </a:r>
                      <a:endParaRPr lang="cs-CZ" sz="14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CZK / měs.</a:t>
                      </a:r>
                      <a:endParaRPr lang="cs-CZ" sz="14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EUR / měs.</a:t>
                      </a:r>
                      <a:endParaRPr lang="cs-CZ" sz="14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USD / měs.</a:t>
                      </a:r>
                      <a:endParaRPr lang="cs-CZ" sz="14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CZK / rok</a:t>
                      </a:r>
                      <a:endParaRPr lang="cs-CZ" sz="14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Co obsahuje</a:t>
                      </a:r>
                      <a:endParaRPr lang="cs-CZ" sz="14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ctr"/>
                </a:tc>
                <a:extLst>
                  <a:ext uri="{0D108BD9-81ED-4DB2-BD59-A6C34878D82A}">
                    <a16:rowId xmlns:a16="http://schemas.microsoft.com/office/drawing/2014/main" val="4025647948"/>
                  </a:ext>
                </a:extLst>
              </a:tr>
              <a:tr h="1501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Zdarma</a:t>
                      </a:r>
                      <a:endParaRPr lang="cs-CZ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Páníček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–</a:t>
                      </a:r>
                      <a:endParaRPr lang="cs-CZ" sz="14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–</a:t>
                      </a:r>
                      <a:endParaRPr lang="cs-CZ" sz="14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–</a:t>
                      </a:r>
                      <a:endParaRPr lang="cs-CZ" sz="14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–</a:t>
                      </a:r>
                      <a:endParaRPr lang="cs-CZ" sz="14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1 pes, 2 aktivní plány, deník tréninků, reklamy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extLst>
                  <a:ext uri="{0D108BD9-81ED-4DB2-BD59-A6C34878D82A}">
                    <a16:rowId xmlns:a16="http://schemas.microsoft.com/office/drawing/2014/main" val="4042813921"/>
                  </a:ext>
                </a:extLst>
              </a:tr>
              <a:tr h="1501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Plus</a:t>
                      </a:r>
                      <a:endParaRPr lang="cs-CZ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Páníček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99 Kč</a:t>
                      </a:r>
                      <a:endParaRPr lang="cs-CZ" sz="14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3,99 €</a:t>
                      </a:r>
                      <a:endParaRPr lang="cs-CZ" sz="14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$4,99</a:t>
                      </a:r>
                      <a:endParaRPr lang="cs-CZ" sz="14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790 Kč</a:t>
                      </a:r>
                      <a:endParaRPr lang="cs-CZ" sz="14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2 psi, neomezeně plánů, bez reklam, statistiky, sdílení s rodinou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extLst>
                  <a:ext uri="{0D108BD9-81ED-4DB2-BD59-A6C34878D82A}">
                    <a16:rowId xmlns:a16="http://schemas.microsoft.com/office/drawing/2014/main" val="1641785257"/>
                  </a:ext>
                </a:extLst>
              </a:tr>
              <a:tr h="1501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Další pes k Plus</a:t>
                      </a:r>
                      <a:endParaRPr lang="cs-CZ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Páníček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29 Kč</a:t>
                      </a:r>
                      <a:endParaRPr lang="cs-CZ" sz="14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0,99 €</a:t>
                      </a:r>
                      <a:endParaRPr lang="cs-CZ" sz="14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$0,99</a:t>
                      </a:r>
                      <a:endParaRPr lang="cs-CZ" sz="14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cs-CZ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za 3. a každého dalšího psa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extLst>
                  <a:ext uri="{0D108BD9-81ED-4DB2-BD59-A6C34878D82A}">
                    <a16:rowId xmlns:a16="http://schemas.microsoft.com/office/drawing/2014/main" val="3784220910"/>
                  </a:ext>
                </a:extLst>
              </a:tr>
              <a:tr h="1501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Pro 20</a:t>
                      </a:r>
                      <a:endParaRPr lang="cs-CZ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Trenér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199 Kč</a:t>
                      </a:r>
                      <a:endParaRPr lang="cs-CZ" sz="14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7,99 €</a:t>
                      </a:r>
                      <a:endParaRPr lang="cs-CZ" sz="14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$8,99</a:t>
                      </a:r>
                      <a:endParaRPr lang="cs-CZ" sz="14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1 990 Kč</a:t>
                      </a:r>
                      <a:endParaRPr lang="cs-CZ" sz="14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až 20 psů klientů, +12 Kč za každého psa navíc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extLst>
                  <a:ext uri="{0D108BD9-81ED-4DB2-BD59-A6C34878D82A}">
                    <a16:rowId xmlns:a16="http://schemas.microsoft.com/office/drawing/2014/main" val="441018225"/>
                  </a:ext>
                </a:extLst>
              </a:tr>
              <a:tr h="1501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Pro+</a:t>
                      </a:r>
                      <a:endParaRPr lang="cs-CZ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Trenér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399 Kč</a:t>
                      </a:r>
                      <a:endParaRPr lang="cs-CZ" sz="14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15,99 €</a:t>
                      </a:r>
                      <a:endParaRPr lang="cs-CZ" sz="14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$17,99</a:t>
                      </a:r>
                      <a:endParaRPr lang="cs-CZ" sz="14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3 990 Kč</a:t>
                      </a:r>
                      <a:endParaRPr lang="cs-CZ" sz="14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až 60 psů klientů, +6 Kč za psa navíc, vlastní logo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extLst>
                  <a:ext uri="{0D108BD9-81ED-4DB2-BD59-A6C34878D82A}">
                    <a16:rowId xmlns:a16="http://schemas.microsoft.com/office/drawing/2014/main" val="1990087838"/>
                  </a:ext>
                </a:extLst>
              </a:tr>
              <a:tr h="1501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Škola S</a:t>
                      </a:r>
                      <a:endParaRPr lang="cs-CZ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Psí škola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549 Kč</a:t>
                      </a:r>
                      <a:endParaRPr lang="cs-CZ" sz="14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21,99 €</a:t>
                      </a:r>
                      <a:endParaRPr lang="cs-CZ" sz="14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$24,99</a:t>
                      </a:r>
                      <a:endParaRPr lang="cs-CZ" sz="14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cs-CZ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3 trenéři, 60 psů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extLst>
                  <a:ext uri="{0D108BD9-81ED-4DB2-BD59-A6C34878D82A}">
                    <a16:rowId xmlns:a16="http://schemas.microsoft.com/office/drawing/2014/main" val="4050101253"/>
                  </a:ext>
                </a:extLst>
              </a:tr>
              <a:tr h="1501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Škola M</a:t>
                      </a:r>
                      <a:endParaRPr lang="cs-CZ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Psí škola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1 090 Kč</a:t>
                      </a:r>
                      <a:endParaRPr lang="cs-CZ" sz="14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43,99 €</a:t>
                      </a:r>
                      <a:endParaRPr lang="cs-CZ" sz="14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$49,99</a:t>
                      </a:r>
                      <a:endParaRPr lang="cs-CZ" sz="14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cs-CZ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8 trenérů, 180 psů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extLst>
                  <a:ext uri="{0D108BD9-81ED-4DB2-BD59-A6C34878D82A}">
                    <a16:rowId xmlns:a16="http://schemas.microsoft.com/office/drawing/2014/main" val="4175352557"/>
                  </a:ext>
                </a:extLst>
              </a:tr>
              <a:tr h="1501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Škola L</a:t>
                      </a:r>
                      <a:endParaRPr lang="cs-CZ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Psí škola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1 990 Kč</a:t>
                      </a:r>
                      <a:endParaRPr lang="cs-CZ" sz="14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79,99 €</a:t>
                      </a:r>
                      <a:endParaRPr lang="cs-CZ" sz="14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400" u="none" strike="noStrike">
                          <a:effectLst/>
                        </a:rPr>
                        <a:t>$89,99</a:t>
                      </a:r>
                      <a:endParaRPr lang="cs-CZ" sz="1400" b="0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cs-CZ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05" marR="7505" marT="750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400" u="none" strike="noStrike" dirty="0">
                          <a:effectLst/>
                        </a:rPr>
                        <a:t>neomezeně trenérů, 450 psů</a:t>
                      </a:r>
                      <a:endParaRPr lang="cs-CZ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05" marR="7505" marT="7505" marB="0" anchor="b"/>
                </a:tc>
                <a:extLst>
                  <a:ext uri="{0D108BD9-81ED-4DB2-BD59-A6C34878D82A}">
                    <a16:rowId xmlns:a16="http://schemas.microsoft.com/office/drawing/2014/main" val="1936927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5529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FF47AAF-33CD-E34B-C50A-D39500C27D22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cs-CZ" dirty="0"/>
              <a:t>Výnosy</a:t>
            </a:r>
          </a:p>
        </p:txBody>
      </p:sp>
      <p:graphicFrame>
        <p:nvGraphicFramePr>
          <p:cNvPr id="4" name="Zástupný obsah 3">
            <a:extLst>
              <a:ext uri="{FF2B5EF4-FFF2-40B4-BE49-F238E27FC236}">
                <a16:creationId xmlns:a16="http://schemas.microsoft.com/office/drawing/2014/main" id="{3677077F-038D-3232-E6B5-F39A78AE481E}"/>
              </a:ext>
            </a:extLst>
          </p:cNvPr>
          <p:cNvGraphicFramePr>
            <a:graphicFrameLocks noGrp="1"/>
          </p:cNvGraphicFramePr>
          <p:nvPr>
            <p:ph idx="102"/>
            <p:extLst>
              <p:ext uri="{D42A27DB-BD31-4B8C-83A1-F6EECF244321}">
                <p14:modId xmlns:p14="http://schemas.microsoft.com/office/powerpoint/2010/main" val="3308727491"/>
              </p:ext>
            </p:extLst>
          </p:nvPr>
        </p:nvGraphicFramePr>
        <p:xfrm>
          <a:off x="548640" y="1923472"/>
          <a:ext cx="7559582" cy="18701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21450">
                  <a:extLst>
                    <a:ext uri="{9D8B030D-6E8A-4147-A177-3AD203B41FA5}">
                      <a16:colId xmlns:a16="http://schemas.microsoft.com/office/drawing/2014/main" val="1312080678"/>
                    </a:ext>
                  </a:extLst>
                </a:gridCol>
                <a:gridCol w="1209533">
                  <a:extLst>
                    <a:ext uri="{9D8B030D-6E8A-4147-A177-3AD203B41FA5}">
                      <a16:colId xmlns:a16="http://schemas.microsoft.com/office/drawing/2014/main" val="2066986468"/>
                    </a:ext>
                  </a:extLst>
                </a:gridCol>
                <a:gridCol w="1209533">
                  <a:extLst>
                    <a:ext uri="{9D8B030D-6E8A-4147-A177-3AD203B41FA5}">
                      <a16:colId xmlns:a16="http://schemas.microsoft.com/office/drawing/2014/main" val="2545838898"/>
                    </a:ext>
                  </a:extLst>
                </a:gridCol>
                <a:gridCol w="1209533">
                  <a:extLst>
                    <a:ext uri="{9D8B030D-6E8A-4147-A177-3AD203B41FA5}">
                      <a16:colId xmlns:a16="http://schemas.microsoft.com/office/drawing/2014/main" val="1810339272"/>
                    </a:ext>
                  </a:extLst>
                </a:gridCol>
                <a:gridCol w="1209533">
                  <a:extLst>
                    <a:ext uri="{9D8B030D-6E8A-4147-A177-3AD203B41FA5}">
                      <a16:colId xmlns:a16="http://schemas.microsoft.com/office/drawing/2014/main" val="3538583930"/>
                    </a:ext>
                  </a:extLst>
                </a:gridCol>
              </a:tblGrid>
              <a:tr h="5914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cs-CZ" sz="1600" u="none" strike="noStrike" dirty="0">
                          <a:effectLst/>
                        </a:rPr>
                        <a:t>Výnos za měsíc (základ)</a:t>
                      </a:r>
                      <a:endParaRPr lang="cs-CZ" sz="16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cs-CZ" sz="1600" u="none" strike="noStrike" dirty="0">
                          <a:effectLst/>
                        </a:rPr>
                        <a:t>1 500 MAU</a:t>
                      </a:r>
                      <a:endParaRPr lang="cs-CZ" sz="16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cs-CZ" sz="1600" u="none" strike="noStrike">
                          <a:effectLst/>
                        </a:rPr>
                        <a:t>5 000 MAU</a:t>
                      </a:r>
                      <a:endParaRPr lang="cs-CZ" sz="16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cs-CZ" sz="1600" u="none" strike="noStrike">
                          <a:effectLst/>
                        </a:rPr>
                        <a:t>10 000 MAU</a:t>
                      </a:r>
                      <a:endParaRPr lang="cs-CZ" sz="16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cs-CZ" sz="1600" u="none" strike="noStrike">
                          <a:effectLst/>
                        </a:rPr>
                        <a:t>50 000 MAU</a:t>
                      </a:r>
                      <a:endParaRPr lang="cs-CZ" sz="16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56519747"/>
                  </a:ext>
                </a:extLst>
              </a:tr>
              <a:tr h="3196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600" u="none" strike="noStrike">
                          <a:effectLst/>
                        </a:rPr>
                        <a:t>Předplatné</a:t>
                      </a:r>
                      <a:endParaRPr lang="cs-CZ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600" u="none" strike="noStrike">
                          <a:effectLst/>
                        </a:rPr>
                        <a:t>3 740 Kč</a:t>
                      </a:r>
                      <a:endParaRPr lang="cs-CZ" sz="1600" b="0" i="0" u="none" strike="noStrike">
                        <a:solidFill>
                          <a:srgbClr val="008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600" u="none" strike="noStrike">
                          <a:effectLst/>
                        </a:rPr>
                        <a:t>13 570 Kč</a:t>
                      </a:r>
                      <a:endParaRPr lang="cs-CZ" sz="1600" b="0" i="0" u="none" strike="noStrike">
                        <a:solidFill>
                          <a:srgbClr val="008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600" u="none" strike="noStrike">
                          <a:effectLst/>
                        </a:rPr>
                        <a:t>28 210 Kč</a:t>
                      </a:r>
                      <a:endParaRPr lang="cs-CZ" sz="1600" b="0" i="0" u="none" strike="noStrike">
                        <a:solidFill>
                          <a:srgbClr val="008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600" u="none" strike="noStrike">
                          <a:effectLst/>
                        </a:rPr>
                        <a:t>141 080 Kč</a:t>
                      </a:r>
                      <a:endParaRPr lang="cs-CZ" sz="1600" b="0" i="0" u="none" strike="noStrike">
                        <a:solidFill>
                          <a:srgbClr val="008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61344847"/>
                  </a:ext>
                </a:extLst>
              </a:tr>
              <a:tr h="3196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600" u="none" strike="noStrike">
                          <a:effectLst/>
                        </a:rPr>
                        <a:t>Reklamy</a:t>
                      </a:r>
                      <a:endParaRPr lang="cs-CZ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600" u="none" strike="noStrike">
                          <a:effectLst/>
                        </a:rPr>
                        <a:t>340 Kč</a:t>
                      </a:r>
                      <a:endParaRPr lang="cs-CZ" sz="1600" b="0" i="0" u="none" strike="noStrike">
                        <a:solidFill>
                          <a:srgbClr val="008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600" u="none" strike="noStrike">
                          <a:effectLst/>
                        </a:rPr>
                        <a:t>1 550 Kč</a:t>
                      </a:r>
                      <a:endParaRPr lang="cs-CZ" sz="1600" b="0" i="0" u="none" strike="noStrike">
                        <a:solidFill>
                          <a:srgbClr val="008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600" u="none" strike="noStrike">
                          <a:effectLst/>
                        </a:rPr>
                        <a:t>4 260 Kč</a:t>
                      </a:r>
                      <a:endParaRPr lang="cs-CZ" sz="1600" b="0" i="0" u="none" strike="noStrike">
                        <a:solidFill>
                          <a:srgbClr val="008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600" u="none" strike="noStrike">
                          <a:effectLst/>
                        </a:rPr>
                        <a:t>29 240 Kč</a:t>
                      </a:r>
                      <a:endParaRPr lang="cs-CZ" sz="1600" b="0" i="0" u="none" strike="noStrike">
                        <a:solidFill>
                          <a:srgbClr val="008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2648756"/>
                  </a:ext>
                </a:extLst>
              </a:tr>
              <a:tr h="3196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600" u="none" strike="noStrike">
                          <a:effectLst/>
                        </a:rPr>
                        <a:t>Celkem za měsíc</a:t>
                      </a:r>
                      <a:endParaRPr lang="cs-CZ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600" u="none" strike="noStrike">
                          <a:effectLst/>
                        </a:rPr>
                        <a:t>4 080 Kč</a:t>
                      </a:r>
                      <a:endParaRPr lang="cs-CZ" sz="1600" b="1" i="0" u="none" strike="noStrike">
                        <a:solidFill>
                          <a:srgbClr val="008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600" b="1" u="none" strike="noStrike" dirty="0">
                          <a:effectLst/>
                        </a:rPr>
                        <a:t>15 120 </a:t>
                      </a:r>
                      <a:r>
                        <a:rPr lang="cs-CZ" sz="1600" u="none" strike="noStrike" dirty="0">
                          <a:effectLst/>
                        </a:rPr>
                        <a:t>Kč</a:t>
                      </a:r>
                      <a:endParaRPr lang="cs-CZ" sz="1600" b="1" i="0" u="none" strike="noStrike" dirty="0">
                        <a:solidFill>
                          <a:srgbClr val="008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600" u="none" strike="noStrike">
                          <a:effectLst/>
                        </a:rPr>
                        <a:t>32 470 Kč</a:t>
                      </a:r>
                      <a:endParaRPr lang="cs-CZ" sz="1600" b="1" i="0" u="none" strike="noStrike">
                        <a:solidFill>
                          <a:srgbClr val="008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600" u="none" strike="noStrike">
                          <a:effectLst/>
                        </a:rPr>
                        <a:t>170 320 Kč</a:t>
                      </a:r>
                      <a:endParaRPr lang="cs-CZ" sz="1600" b="1" i="0" u="none" strike="noStrike">
                        <a:solidFill>
                          <a:srgbClr val="008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60988"/>
                  </a:ext>
                </a:extLst>
              </a:tr>
              <a:tr h="3196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cs-CZ" sz="1600" u="none" strike="noStrike">
                          <a:effectLst/>
                        </a:rPr>
                        <a:t>Celkem za rok</a:t>
                      </a:r>
                      <a:endParaRPr lang="cs-CZ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600" u="none" strike="noStrike">
                          <a:effectLst/>
                        </a:rPr>
                        <a:t>48 960 Kč</a:t>
                      </a:r>
                      <a:endParaRPr lang="cs-CZ" sz="1600" b="1" i="0" u="none" strike="noStrike">
                        <a:solidFill>
                          <a:srgbClr val="008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600" u="none" strike="noStrike">
                          <a:effectLst/>
                        </a:rPr>
                        <a:t>181 440 Kč</a:t>
                      </a:r>
                      <a:endParaRPr lang="cs-CZ" sz="1600" b="1" i="0" u="none" strike="noStrike">
                        <a:solidFill>
                          <a:srgbClr val="008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600" u="none" strike="noStrike">
                          <a:effectLst/>
                        </a:rPr>
                        <a:t>389 640 Kč</a:t>
                      </a:r>
                      <a:endParaRPr lang="cs-CZ" sz="1600" b="1" i="0" u="none" strike="noStrike">
                        <a:solidFill>
                          <a:srgbClr val="008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600" u="none" strike="noStrike" dirty="0">
                          <a:effectLst/>
                        </a:rPr>
                        <a:t>2 043 840 Kč</a:t>
                      </a:r>
                      <a:endParaRPr lang="cs-CZ" sz="1600" b="1" i="0" u="none" strike="noStrike" dirty="0">
                        <a:solidFill>
                          <a:srgbClr val="008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00143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8177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0BA6760-047F-1FB7-BB44-F8164DD7679C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cs-CZ" dirty="0"/>
              <a:t>Náklady celkem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033CCD9-B606-29AF-BDA1-77E2FB18590C}"/>
              </a:ext>
            </a:extLst>
          </p:cNvPr>
          <p:cNvSpPr>
            <a:spLocks noGrp="1"/>
          </p:cNvSpPr>
          <p:nvPr>
            <p:ph idx="102"/>
          </p:nvPr>
        </p:nvSpPr>
        <p:spPr/>
        <p:txBody>
          <a:bodyPr/>
          <a:lstStyle/>
          <a:p>
            <a:r>
              <a:rPr lang="cs-CZ" sz="2400" dirty="0"/>
              <a:t>MVP – 1 189 616 Kč</a:t>
            </a:r>
          </a:p>
          <a:p>
            <a:r>
              <a:rPr lang="cs-CZ" sz="2400" dirty="0"/>
              <a:t>PREMIUM – 347 083 Kč</a:t>
            </a:r>
          </a:p>
          <a:p>
            <a:endParaRPr lang="cs-CZ" sz="2400" dirty="0"/>
          </a:p>
          <a:p>
            <a:r>
              <a:rPr lang="cs-CZ" sz="2400" dirty="0"/>
              <a:t>Provozní náklady CCA 20 892 Kč/</a:t>
            </a:r>
            <a:r>
              <a:rPr lang="cs-CZ" sz="2400" dirty="0" err="1"/>
              <a:t>měs</a:t>
            </a:r>
            <a:endParaRPr lang="cs-CZ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400" dirty="0"/>
              <a:t>Pro 5250 aktivních uživatelů</a:t>
            </a:r>
          </a:p>
          <a:p>
            <a:r>
              <a:rPr lang="cs-CZ" sz="2400" dirty="0"/>
              <a:t>Výnosy pro 5000 uživatelů tvoří 15 120 Kč/</a:t>
            </a:r>
            <a:r>
              <a:rPr lang="cs-CZ" sz="2400" dirty="0" err="1"/>
              <a:t>měs</a:t>
            </a:r>
            <a:endParaRPr lang="cs-CZ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400" dirty="0"/>
              <a:t>Od 10 000 aktivních uživatelů 32 470 Kč/</a:t>
            </a:r>
            <a:r>
              <a:rPr lang="cs-CZ" sz="2400" dirty="0" err="1"/>
              <a:t>měs</a:t>
            </a:r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3316525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Feature breakdown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634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03E80000-044D-630F-4644-1B4250E8A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5364"/>
            <a:ext cx="9144000" cy="37785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Výzkumné cíle</a:t>
            </a:r>
            <a:endParaRPr lang="en-US" sz="3200" dirty="0"/>
          </a:p>
        </p:txBody>
      </p:sp>
      <p:graphicFrame>
        <p:nvGraphicFramePr>
          <p:cNvPr id="7" name="Goal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3072384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Cíl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Zjištění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C1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Komunikace trenér ↔ klient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WhatsApp, 4–6 zpráv denně, 40–50 klientů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C2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Podklady od klientů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Videa ke kontrole a dotazy k úkolům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C3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Plány a jejich úpravy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Konzultace → domácí úkoly, ~5 stejných oblastí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C4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Peníze a nástroje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Rezervační systém, WhatsApp, sešity – nic placeného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C5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Vlastní psi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~150 sešitů, podrobný volný text, bez škály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C6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Plán jako hotový celek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Nechce sdílet videa, tréninky se liší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C7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Cesty k trenérům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Noví klienti přes Instagram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634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Hypotézy</a:t>
            </a:r>
            <a:endParaRPr lang="en-US" sz="3200" dirty="0"/>
          </a:p>
        </p:txBody>
      </p:sp>
      <p:graphicFrame>
        <p:nvGraphicFramePr>
          <p:cNvPr id="8" name="Hypothes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329184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Hypotéza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Výsledek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H1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Komunikace s klienty probíhá u všech podobně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6B4F"/>
                          </a:solidFill>
                        </a:rPr>
                        <a:t>Podpořena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H2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Plány klientům průběžně upravuje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B07522"/>
                          </a:solidFill>
                        </a:rPr>
                        <a:t>Částečně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H3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Orientace v podkladech ji stojí čas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6E7872"/>
                          </a:solidFill>
                        </a:rPr>
                        <a:t>Nezjištěno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H4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Za nástroj šetřící čas by platila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B5483B"/>
                          </a:solidFill>
                        </a:rPr>
                        <a:t>Vyvrácena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H5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Plány nebere jako produkt k prodeji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B07522"/>
                          </a:solidFill>
                        </a:rPr>
                        <a:t>Částečně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H6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Vlastní psy plánuje méně formálně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B5483B"/>
                          </a:solidFill>
                        </a:rPr>
                        <a:t>Vyvrácena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H7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Klienti chtějí zůstat u chatu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B07522"/>
                          </a:solidFill>
                        </a:rPr>
                        <a:t>Částečně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H8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Pokrok posuzuje z videa, ne z procent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6B4F"/>
                          </a:solidFill>
                        </a:rPr>
                        <a:t>Podpořena</a:t>
                      </a:r>
                      <a:endParaRPr lang="en-US" sz="1400" dirty="0"/>
                    </a:p>
                  </a:txBody>
                  <a:tcPr marL="137160" marR="1371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634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Hlavní zjištění</a:t>
            </a:r>
            <a:endParaRPr lang="en-US" sz="3200" dirty="0"/>
          </a:p>
        </p:txBody>
      </p:sp>
      <p:sp>
        <p:nvSpPr>
          <p:cNvPr id="3" name="Finding 1"/>
          <p:cNvSpPr/>
          <p:nvPr/>
        </p:nvSpPr>
        <p:spPr>
          <a:xfrm>
            <a:off x="548640" y="1234440"/>
            <a:ext cx="388620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Fotky nepotřebuje icon circle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5" name="Fotky nepotřebuje icon" descr="Fotky nepotřebuj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7830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5544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Fotky nepotřebuje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20574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Stačí jí videa a zprávy</a:t>
            </a:r>
            <a:endParaRPr lang="en-US" sz="1400" dirty="0"/>
          </a:p>
        </p:txBody>
      </p:sp>
      <p:sp>
        <p:nvSpPr>
          <p:cNvPr id="8" name="Finding 2"/>
          <p:cNvSpPr/>
          <p:nvPr/>
        </p:nvSpPr>
        <p:spPr>
          <a:xfrm>
            <a:off x="4709160" y="1234440"/>
            <a:ext cx="388620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Procenta nezapisuje icon circle"/>
          <p:cNvSpPr/>
          <p:nvPr/>
        </p:nvSpPr>
        <p:spPr>
          <a:xfrm>
            <a:off x="4983480" y="160020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0" name="Procenta nezapisuje icon" descr="Procenta nezapisuj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17830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943600" y="15544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Procenta nezapisuje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5943600" y="20574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Pokrok popisuje slovy</a:t>
            </a:r>
            <a:endParaRPr lang="en-US" sz="1400" dirty="0"/>
          </a:p>
        </p:txBody>
      </p:sp>
      <p:sp>
        <p:nvSpPr>
          <p:cNvPr id="13" name="Finding 3"/>
          <p:cNvSpPr/>
          <p:nvPr/>
        </p:nvSpPr>
        <p:spPr>
          <a:xfrm>
            <a:off x="548640" y="2971800"/>
            <a:ext cx="388620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Žádné placené nástroje icon circle"/>
          <p:cNvSpPr/>
          <p:nvPr/>
        </p:nvSpPr>
        <p:spPr>
          <a:xfrm>
            <a:off x="822960" y="333756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5" name="Žádné placené nástroje icon" descr="Žádné placené nástroj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5204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83080" y="32918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Žádné placené nástroje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1783080" y="3794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Vše řeší zdarma</a:t>
            </a:r>
            <a:endParaRPr lang="en-US" sz="1400" dirty="0"/>
          </a:p>
        </p:txBody>
      </p:sp>
      <p:sp>
        <p:nvSpPr>
          <p:cNvPr id="18" name="Finding 4"/>
          <p:cNvSpPr/>
          <p:nvPr/>
        </p:nvSpPr>
        <p:spPr>
          <a:xfrm>
            <a:off x="4709160" y="2971800"/>
            <a:ext cx="388620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Klienti chodí přes Instagram icon circle"/>
          <p:cNvSpPr/>
          <p:nvPr/>
        </p:nvSpPr>
        <p:spPr>
          <a:xfrm>
            <a:off x="4983480" y="333756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20" name="Klienti chodí přes Instagram icon" descr="Klienti chodí přes Instagr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352044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943600" y="32918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Klienti chodí přes Instagram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5943600" y="3794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Hlavní kanál pro nové klienty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634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Product Backlog v1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634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s-CZ" sz="3200" dirty="0"/>
              <a:t>Design</a:t>
            </a:r>
            <a:endParaRPr lang="en-US" sz="3200" dirty="0"/>
          </a:p>
        </p:txBody>
      </p:sp>
      <p:sp>
        <p:nvSpPr>
          <p:cNvPr id="3" name="Text 1"/>
          <p:cNvSpPr>
            <a:spLocks noGrp="1"/>
          </p:cNvSpPr>
          <p:nvPr>
            <p:ph idx="102" hasCustomPrompt="1"/>
          </p:nvPr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634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ainLoop">
  <a:themeElements>
    <a:clrScheme name="TrainLoop">
      <a:dk1>
        <a:srgbClr val="1F2A24"/>
      </a:dk1>
      <a:lt1>
        <a:srgbClr val="FFFFFF"/>
      </a:lt1>
      <a:dk2>
        <a:srgbClr val="2F6B4F"/>
      </a:dk2>
      <a:lt2>
        <a:srgbClr val="EEF3EF"/>
      </a:lt2>
      <a:accent1>
        <a:srgbClr val="2F6B4F"/>
      </a:accent1>
      <a:accent2>
        <a:srgbClr val="B07522"/>
      </a:accent2>
      <a:accent3>
        <a:srgbClr val="B5483B"/>
      </a:accent3>
      <a:accent4>
        <a:srgbClr val="6E7872"/>
      </a:accent4>
      <a:accent5>
        <a:srgbClr val="97BC62"/>
      </a:accent5>
      <a:accent6>
        <a:srgbClr val="50808E"/>
      </a:accent6>
      <a:hlink>
        <a:srgbClr val="2F6B4F"/>
      </a:hlink>
      <a:folHlink>
        <a:srgbClr val="50808E"/>
      </a:folHlink>
    </a:clrScheme>
    <a:fontScheme name="TrainLoop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547</Words>
  <Application>Microsoft Office PowerPoint</Application>
  <PresentationFormat>Předvádění na obrazovce (16:9)</PresentationFormat>
  <Paragraphs>195</Paragraphs>
  <Slides>15</Slides>
  <Notes>9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15</vt:i4>
      </vt:variant>
    </vt:vector>
  </HeadingPairs>
  <TitlesOfParts>
    <vt:vector size="18" baseType="lpstr">
      <vt:lpstr>Arial</vt:lpstr>
      <vt:lpstr>Calibri</vt:lpstr>
      <vt:lpstr>TrainLoop</vt:lpstr>
      <vt:lpstr>TrainLoop</vt:lpstr>
      <vt:lpstr>Obsah</vt:lpstr>
      <vt:lpstr>Lean Canvas MPV</vt:lpstr>
      <vt:lpstr>Lean Canvas PREMIUM</vt:lpstr>
      <vt:lpstr>Náklady provoz</vt:lpstr>
      <vt:lpstr>Náklady vývoj</vt:lpstr>
      <vt:lpstr>Ceník</vt:lpstr>
      <vt:lpstr>Výnosy</vt:lpstr>
      <vt:lpstr>Náklady celkem</vt:lpstr>
      <vt:lpstr>Feature breakdown</vt:lpstr>
      <vt:lpstr>Výzkumné cíle</vt:lpstr>
      <vt:lpstr>Hypotézy</vt:lpstr>
      <vt:lpstr>Hlavní zjištění</vt:lpstr>
      <vt:lpstr>Product Backlog v1</vt:lpstr>
      <vt:lpstr>Design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TrainLoop</dc:title>
  <dc:subject>PptxGenJS Presentation</dc:subject>
  <dc:creator>PptxGenJS</dc:creator>
  <cp:lastModifiedBy>Mikuláš Bílek</cp:lastModifiedBy>
  <cp:revision>4</cp:revision>
  <dcterms:created xsi:type="dcterms:W3CDTF">2026-10-11T08:26:48Z</dcterms:created>
  <dcterms:modified xsi:type="dcterms:W3CDTF">2026-10-11T11:43:54Z</dcterms:modified>
</cp:coreProperties>
</file>