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69" r:id="rId5"/>
    <p:sldId id="266" r:id="rId6"/>
    <p:sldId id="267" r:id="rId7"/>
    <p:sldId id="268" r:id="rId8"/>
    <p:sldId id="259" r:id="rId9"/>
    <p:sldId id="261" r:id="rId10"/>
    <p:sldId id="262" r:id="rId11"/>
    <p:sldId id="263" r:id="rId12"/>
    <p:sldId id="264" r:id="rId13"/>
    <p:sldId id="265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Úvod" id="{4158F83B-D457-C380-BA14-89921A8EA703}">
          <p14:sldIdLst>
            <p14:sldId id="256"/>
            <p14:sldId id="257"/>
          </p14:sldIdLst>
        </p14:section>
        <p14:section name="Lean Canvas" id="{42DDE070-6149-D673-50ED-8C1BD64AC784}">
          <p14:sldIdLst>
            <p14:sldId id="258"/>
            <p14:sldId id="269"/>
            <p14:sldId id="266"/>
            <p14:sldId id="267"/>
            <p14:sldId id="268"/>
          </p14:sldIdLst>
        </p14:section>
        <p14:section name="Feature breakdown" id="{FCB245BC-88F0-8361-58DA-0203F0449886}">
          <p14:sldIdLst>
            <p14:sldId id="259"/>
          </p14:sldIdLst>
        </p14:section>
        <p14:section name="Rozhovor" id="{FAE15B04-544D-8BF1-CF2D-89B31624A8B6}">
          <p14:sldIdLst>
            <p14:sldId id="261"/>
            <p14:sldId id="262"/>
            <p14:sldId id="263"/>
          </p14:sldIdLst>
        </p14:section>
        <p14:section name="Product Backlog" id="{F645C0FF-2684-3F17-DF68-32D364C3AC5A}">
          <p14:sldIdLst>
            <p14:sldId id="264"/>
          </p14:sldIdLst>
        </p14:section>
        <p14:section name="Design" id="{6B88DEAC-68DA-2E02-CF89-AADA430156F1}">
          <p14:sldIdLst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6" d="100"/>
          <a:sy n="146" d="100"/>
        </p:scale>
        <p:origin x="59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4270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5400" b="1" dirty="0">
                <a:solidFill>
                  <a:schemeClr val="bg1"/>
                </a:solidFill>
              </a:defRPr>
            </a:lvl1pPr>
          </a:lstStyle>
          <a:p>
            <a:pPr marL="0" indent="0">
              <a:buNone/>
            </a:pP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34640"/>
            <a:ext cx="80467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marL="0" indent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TrainLoop · Tým 7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Pic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6634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chemeClr val="accent4"/>
                </a:solidFill>
              </a:rPr>
              <a:t>TrainLoop · Tým 7</a:t>
            </a:r>
            <a:endParaRPr lang="en-US" sz="10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3200" b="1" dirty="0">
                <a:solidFill>
                  <a:schemeClr val="tx1"/>
                </a:solidFill>
              </a:defRPr>
            </a:lvl1pPr>
          </a:lstStyle>
          <a:p>
            <a:pPr marL="0" indent="0">
              <a:buNone/>
            </a:pPr>
            <a:endParaRPr lang="en-US" sz="3200" dirty="0"/>
          </a:p>
        </p:txBody>
      </p:sp>
      <p:sp>
        <p:nvSpPr>
          <p:cNvPr id="4" name="Text 1"/>
          <p:cNvSpPr>
            <a:spLocks noGrp="1"/>
          </p:cNvSpPr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en-US" sz="1400" dirty="0">
                <a:solidFill>
                  <a:schemeClr val="accent4"/>
                </a:solidFill>
              </a:defRPr>
            </a:lvl1pPr>
          </a:lstStyle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Vložte obrázek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6459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5400" b="1" dirty="0">
                <a:solidFill>
                  <a:schemeClr val="bg1"/>
                </a:solidFill>
              </a:rPr>
              <a:t>TrainLoop</a:t>
            </a:r>
            <a:endParaRPr lang="en-US" sz="54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548640" y="28346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000" dirty="0">
                <a:solidFill>
                  <a:schemeClr val="bg2"/>
                </a:solidFill>
              </a:rPr>
              <a:t>Plánovač a tréninkový deník pro psa · Tým 7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Obsah</a:t>
            </a:r>
            <a:endParaRPr lang="en-US" sz="3200" dirty="0"/>
          </a:p>
        </p:txBody>
      </p:sp>
      <p:sp>
        <p:nvSpPr>
          <p:cNvPr id="3" name="Agenda 1"/>
          <p:cNvSpPr/>
          <p:nvPr/>
        </p:nvSpPr>
        <p:spPr>
          <a:xfrm>
            <a:off x="54864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Text 2"/>
          <p:cNvSpPr txBox="1"/>
          <p:nvPr/>
        </p:nvSpPr>
        <p:spPr>
          <a:xfrm>
            <a:off x="82296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01</a:t>
            </a:r>
            <a:endParaRPr lang="en-US" sz="28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Lean Canvas</a:t>
            </a:r>
            <a:endParaRPr lang="en-US" sz="1800" dirty="0"/>
          </a:p>
        </p:txBody>
      </p:sp>
      <p:sp>
        <p:nvSpPr>
          <p:cNvPr id="6" name="Agenda 2"/>
          <p:cNvSpPr/>
          <p:nvPr/>
        </p:nvSpPr>
        <p:spPr>
          <a:xfrm>
            <a:off x="332232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7" name="Text 5"/>
          <p:cNvSpPr txBox="1"/>
          <p:nvPr/>
        </p:nvSpPr>
        <p:spPr>
          <a:xfrm>
            <a:off x="359664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02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359664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Feature breakdown</a:t>
            </a:r>
            <a:endParaRPr lang="en-US" sz="1800" dirty="0"/>
          </a:p>
        </p:txBody>
      </p:sp>
      <p:sp>
        <p:nvSpPr>
          <p:cNvPr id="9" name="Agenda 3"/>
          <p:cNvSpPr/>
          <p:nvPr/>
        </p:nvSpPr>
        <p:spPr>
          <a:xfrm>
            <a:off x="6096000" y="123444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0" name="Text 8"/>
          <p:cNvSpPr txBox="1"/>
          <p:nvPr/>
        </p:nvSpPr>
        <p:spPr>
          <a:xfrm>
            <a:off x="6370320" y="14630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03</a:t>
            </a:r>
            <a:endParaRPr lang="en-US" sz="2800" dirty="0"/>
          </a:p>
        </p:txBody>
      </p:sp>
      <p:sp>
        <p:nvSpPr>
          <p:cNvPr id="11" name="Text 9"/>
          <p:cNvSpPr txBox="1"/>
          <p:nvPr/>
        </p:nvSpPr>
        <p:spPr>
          <a:xfrm>
            <a:off x="6370320" y="201168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Rozhovor a zjištění</a:t>
            </a:r>
            <a:endParaRPr lang="en-US" sz="1800" dirty="0"/>
          </a:p>
        </p:txBody>
      </p:sp>
      <p:sp>
        <p:nvSpPr>
          <p:cNvPr id="12" name="Agenda 4"/>
          <p:cNvSpPr/>
          <p:nvPr/>
        </p:nvSpPr>
        <p:spPr>
          <a:xfrm>
            <a:off x="54864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3" name="Text 11"/>
          <p:cNvSpPr txBox="1"/>
          <p:nvPr/>
        </p:nvSpPr>
        <p:spPr>
          <a:xfrm>
            <a:off x="82296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04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Product Backlog</a:t>
            </a:r>
            <a:endParaRPr lang="en-US" sz="1800" dirty="0"/>
          </a:p>
        </p:txBody>
      </p:sp>
      <p:sp>
        <p:nvSpPr>
          <p:cNvPr id="15" name="Agenda 5"/>
          <p:cNvSpPr/>
          <p:nvPr/>
        </p:nvSpPr>
        <p:spPr>
          <a:xfrm>
            <a:off x="332232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6" name="Text 14"/>
          <p:cNvSpPr txBox="1"/>
          <p:nvPr/>
        </p:nvSpPr>
        <p:spPr>
          <a:xfrm>
            <a:off x="359664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05</a:t>
            </a:r>
            <a:endParaRPr lang="en-US" sz="2800" dirty="0"/>
          </a:p>
        </p:txBody>
      </p:sp>
      <p:sp>
        <p:nvSpPr>
          <p:cNvPr id="17" name="Text 15"/>
          <p:cNvSpPr txBox="1"/>
          <p:nvPr/>
        </p:nvSpPr>
        <p:spPr>
          <a:xfrm>
            <a:off x="359664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Sitemapa a wireframy</a:t>
            </a:r>
            <a:endParaRPr lang="en-US" sz="1800" dirty="0"/>
          </a:p>
        </p:txBody>
      </p:sp>
      <p:sp>
        <p:nvSpPr>
          <p:cNvPr id="18" name="Agenda 6"/>
          <p:cNvSpPr/>
          <p:nvPr/>
        </p:nvSpPr>
        <p:spPr>
          <a:xfrm>
            <a:off x="6096000" y="2971800"/>
            <a:ext cx="249936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Text 17"/>
          <p:cNvSpPr txBox="1"/>
          <p:nvPr/>
        </p:nvSpPr>
        <p:spPr>
          <a:xfrm>
            <a:off x="6370320" y="32004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chemeClr val="tx2"/>
                </a:solidFill>
              </a:rPr>
              <a:t>06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6370320" y="3749040"/>
            <a:ext cx="1950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chemeClr val="tx1"/>
                </a:solidFill>
              </a:rPr>
              <a:t>První verze designu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Lean Canvas</a:t>
            </a:r>
            <a:r>
              <a:rPr lang="cs-CZ" sz="3200" b="1" dirty="0">
                <a:solidFill>
                  <a:schemeClr val="tx1"/>
                </a:solidFill>
              </a:rPr>
              <a:t> MPV</a:t>
            </a:r>
            <a:endParaRPr lang="en-US" sz="3200" dirty="0"/>
          </a:p>
        </p:txBody>
      </p:sp>
      <p:sp>
        <p:nvSpPr>
          <p:cNvPr id="3" name="Text 1"/>
          <p:cNvSpPr>
            <a:spLocks noGrp="1"/>
          </p:cNvSpPr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1E51667B-E99C-1F49-4519-E6EF5869555A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 err="1"/>
              <a:t>Lean</a:t>
            </a:r>
            <a:r>
              <a:rPr lang="cs-CZ" dirty="0"/>
              <a:t> </a:t>
            </a:r>
            <a:r>
              <a:rPr lang="cs-CZ" dirty="0" err="1"/>
              <a:t>Canvas</a:t>
            </a:r>
            <a:r>
              <a:rPr lang="cs-CZ" dirty="0"/>
              <a:t> PREMIUM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73875AB3-0BBF-CF43-5C6B-423BD00606FC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endParaRPr lang="cs-CZ" dirty="0"/>
          </a:p>
        </p:txBody>
      </p:sp>
    </p:spTree>
    <p:extLst>
      <p:ext uri="{BB962C8B-B14F-4D97-AF65-F5344CB8AC3E}">
        <p14:creationId xmlns:p14="http://schemas.microsoft.com/office/powerpoint/2010/main" val="14602493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9281074E-E51E-E26D-2AF3-9E26B7B9CC31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Náklady provoz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6BF3E03B-C1D9-CF12-5B28-1865908988D5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7B168A60-ED97-3F40-751E-8BB77AD78A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957" y="881431"/>
            <a:ext cx="8850086" cy="3896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2895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42D26D3-BC43-A403-DA56-3360055EBB9D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Náklady vývoj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A53DEB53-2CD3-5A81-1544-E70522CDB707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endParaRPr lang="cs-CZ"/>
          </a:p>
        </p:txBody>
      </p:sp>
      <p:pic>
        <p:nvPicPr>
          <p:cNvPr id="5" name="Obrázek 4">
            <a:extLst>
              <a:ext uri="{FF2B5EF4-FFF2-40B4-BE49-F238E27FC236}">
                <a16:creationId xmlns:a16="http://schemas.microsoft.com/office/drawing/2014/main" id="{C058C965-C706-A4A4-C434-4AF1531AA5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77" y="1117760"/>
            <a:ext cx="8288383" cy="34337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357886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adpis 1">
            <a:extLst>
              <a:ext uri="{FF2B5EF4-FFF2-40B4-BE49-F238E27FC236}">
                <a16:creationId xmlns:a16="http://schemas.microsoft.com/office/drawing/2014/main" id="{80BA6760-047F-1FB7-BB44-F8164DD7679C}"/>
              </a:ext>
            </a:extLst>
          </p:cNvPr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rPr lang="cs-CZ" dirty="0"/>
              <a:t>Náklady celkem</a:t>
            </a:r>
          </a:p>
        </p:txBody>
      </p:sp>
      <p:sp>
        <p:nvSpPr>
          <p:cNvPr id="3" name="Zástupný obsah 2">
            <a:extLst>
              <a:ext uri="{FF2B5EF4-FFF2-40B4-BE49-F238E27FC236}">
                <a16:creationId xmlns:a16="http://schemas.microsoft.com/office/drawing/2014/main" id="{8033CCD9-B606-29AF-BDA1-77E2FB18590C}"/>
              </a:ext>
            </a:extLst>
          </p:cNvPr>
          <p:cNvSpPr>
            <a:spLocks noGrp="1"/>
          </p:cNvSpPr>
          <p:nvPr>
            <p:ph idx="102"/>
          </p:nvPr>
        </p:nvSpPr>
        <p:spPr/>
        <p:txBody>
          <a:bodyPr/>
          <a:lstStyle/>
          <a:p>
            <a:r>
              <a:rPr lang="cs-CZ" sz="2400" dirty="0"/>
              <a:t>MVP – 1 189 616 Kč</a:t>
            </a:r>
          </a:p>
          <a:p>
            <a:r>
              <a:rPr lang="cs-CZ" sz="2400" dirty="0"/>
              <a:t>PREMIUM – 347 083 Kč</a:t>
            </a:r>
          </a:p>
          <a:p>
            <a:endParaRPr lang="cs-CZ" sz="2400" dirty="0"/>
          </a:p>
          <a:p>
            <a:r>
              <a:rPr lang="cs-CZ" sz="2400" dirty="0"/>
              <a:t>Provozní náklady CCA 20 892 Kč/</a:t>
            </a:r>
            <a:r>
              <a:rPr lang="cs-CZ" sz="2400" dirty="0" err="1"/>
              <a:t>měs</a:t>
            </a:r>
            <a:endParaRPr lang="cs-CZ" sz="2400" dirty="0"/>
          </a:p>
        </p:txBody>
      </p:sp>
    </p:spTree>
    <p:extLst>
      <p:ext uri="{BB962C8B-B14F-4D97-AF65-F5344CB8AC3E}">
        <p14:creationId xmlns:p14="http://schemas.microsoft.com/office/powerpoint/2010/main" val="33165250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Feature breakdown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pic>
        <p:nvPicPr>
          <p:cNvPr id="4" name="Obrázek 3">
            <a:extLst>
              <a:ext uri="{FF2B5EF4-FFF2-40B4-BE49-F238E27FC236}">
                <a16:creationId xmlns:a16="http://schemas.microsoft.com/office/drawing/2014/main" id="{03E80000-044D-630F-4644-1B4250E8AE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45364"/>
            <a:ext cx="9144000" cy="37785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Výzkumné cíle</a:t>
            </a:r>
            <a:endParaRPr lang="en-US" sz="3200" dirty="0"/>
          </a:p>
        </p:txBody>
      </p:sp>
      <p:graphicFrame>
        <p:nvGraphicFramePr>
          <p:cNvPr id="7" name="Goal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072384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663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Cíl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Zjištění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C1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Komunikace trenér ↔ klient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WhatsApp, 4–6 zpráv denně, 40–50 klientů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C2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Podklady od klientů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Videa ke kontrole a dotazy k úkolům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C3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Plány a jejich úpravy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Konzultace → domácí úkoly, ~5 stejných oblastí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C4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Peníze a nástroje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Rezervační systém, WhatsApp, sešity – nic placeného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C5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Vlastní psi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~150 sešitů, podrobný volný text, bez škály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C6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Plán jako hotový celek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Nechce sdílet videa, tréninky se liší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C7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Cesty k trenérům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Noví klienti přes Instagram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Hypotézy</a:t>
            </a:r>
            <a:endParaRPr lang="en-US" sz="3200" dirty="0"/>
          </a:p>
        </p:txBody>
      </p:sp>
      <p:graphicFrame>
        <p:nvGraphicFramePr>
          <p:cNvPr id="8" name="Hypotheses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3291840"/>
        </p:xfrm>
        <a:graphic>
          <a:graphicData uri="http://schemas.openxmlformats.org/drawingml/2006/table">
            <a:tbl>
              <a:tblPr/>
              <a:tblGrid>
                <a:gridCol w="640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48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ID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Hypotéza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Výsledek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H1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Komunikace s klienty probíhá u všech podobně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6B4F"/>
                          </a:solidFill>
                        </a:rPr>
                        <a:t>Podpořena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H2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Plány klientům průběžně upravuje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H3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Orientace v podkladech ji stojí čas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6E7872"/>
                          </a:solidFill>
                        </a:rPr>
                        <a:t>Nezjištěno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E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H4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Za nástroj šetřící čas by platila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483B"/>
                          </a:solidFill>
                        </a:rPr>
                        <a:t>Vyvrácena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H5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Plány nebere jako produkt k prodeji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H6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Vlastní psy plánuje méně formálně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5483B"/>
                          </a:solidFill>
                        </a:rPr>
                        <a:t>Vyvrácena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E1D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H7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Klienti chtějí zůstat u chatu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B07522"/>
                          </a:solidFill>
                        </a:rPr>
                        <a:t>Částečně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b="1" dirty="0">
                          <a:solidFill>
                            <a:schemeClr val="tx2"/>
                          </a:solidFill>
                        </a:rPr>
                        <a:t>H8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Pokrok posuzuje z videa, ne z procent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400" b="1" dirty="0">
                          <a:solidFill>
                            <a:srgbClr val="2F6B4F"/>
                          </a:solidFill>
                        </a:rPr>
                        <a:t>Podpořena</a:t>
                      </a:r>
                      <a:endParaRPr lang="en-US" sz="1400" dirty="0"/>
                    </a:p>
                  </a:txBody>
                  <a:tcPr marL="137160" marR="13716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E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E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Hlavní zjištění</a:t>
            </a:r>
            <a:endParaRPr lang="en-US" sz="3200" dirty="0"/>
          </a:p>
        </p:txBody>
      </p:sp>
      <p:sp>
        <p:nvSpPr>
          <p:cNvPr id="3" name="Finding 1"/>
          <p:cNvSpPr/>
          <p:nvPr/>
        </p:nvSpPr>
        <p:spPr>
          <a:xfrm>
            <a:off x="548640" y="123444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4" name="Fotky nepotřebuje icon circle"/>
          <p:cNvSpPr/>
          <p:nvPr/>
        </p:nvSpPr>
        <p:spPr>
          <a:xfrm>
            <a:off x="82296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5" name="Fotky nepotřebuje icon" descr="Fotky nepotřebuj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783080"/>
            <a:ext cx="365760" cy="36576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78308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Fotky nepotřebuje</a:t>
            </a:r>
            <a:endParaRPr lang="en-US" sz="2000" dirty="0"/>
          </a:p>
        </p:txBody>
      </p:sp>
      <p:sp>
        <p:nvSpPr>
          <p:cNvPr id="7" name="Text 4"/>
          <p:cNvSpPr txBox="1"/>
          <p:nvPr/>
        </p:nvSpPr>
        <p:spPr>
          <a:xfrm>
            <a:off x="178308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Stačí jí videa a zprávy</a:t>
            </a:r>
            <a:endParaRPr lang="en-US" sz="1400" dirty="0"/>
          </a:p>
        </p:txBody>
      </p:sp>
      <p:sp>
        <p:nvSpPr>
          <p:cNvPr id="8" name="Finding 2"/>
          <p:cNvSpPr/>
          <p:nvPr/>
        </p:nvSpPr>
        <p:spPr>
          <a:xfrm>
            <a:off x="4709160" y="123444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9" name="Procenta nezapisuje icon circle"/>
          <p:cNvSpPr/>
          <p:nvPr/>
        </p:nvSpPr>
        <p:spPr>
          <a:xfrm>
            <a:off x="4983480" y="160020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0" name="Procenta nezapisuje icon" descr="Procenta nezapisuj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6360" y="1783080"/>
            <a:ext cx="365760" cy="36576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5943600" y="15544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Procenta nezapisuje</a:t>
            </a:r>
            <a:endParaRPr lang="en-US" sz="2000" dirty="0"/>
          </a:p>
        </p:txBody>
      </p:sp>
      <p:sp>
        <p:nvSpPr>
          <p:cNvPr id="12" name="Text 8"/>
          <p:cNvSpPr txBox="1"/>
          <p:nvPr/>
        </p:nvSpPr>
        <p:spPr>
          <a:xfrm>
            <a:off x="5943600" y="205740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Pokrok popisuje slovy</a:t>
            </a:r>
            <a:endParaRPr lang="en-US" sz="1400" dirty="0"/>
          </a:p>
        </p:txBody>
      </p:sp>
      <p:sp>
        <p:nvSpPr>
          <p:cNvPr id="13" name="Finding 3"/>
          <p:cNvSpPr/>
          <p:nvPr/>
        </p:nvSpPr>
        <p:spPr>
          <a:xfrm>
            <a:off x="54864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4" name="Žádné placené nástroje icon circle"/>
          <p:cNvSpPr/>
          <p:nvPr/>
        </p:nvSpPr>
        <p:spPr>
          <a:xfrm>
            <a:off x="822960" y="33375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15" name="Žádné placené nástroje icon" descr="Žádné placené nástroj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5840" y="3520440"/>
            <a:ext cx="365760" cy="365760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78308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Žádné placené nástroje</a:t>
            </a:r>
            <a:endParaRPr lang="en-US" sz="2000" dirty="0"/>
          </a:p>
        </p:txBody>
      </p:sp>
      <p:sp>
        <p:nvSpPr>
          <p:cNvPr id="17" name="Text 12"/>
          <p:cNvSpPr txBox="1"/>
          <p:nvPr/>
        </p:nvSpPr>
        <p:spPr>
          <a:xfrm>
            <a:off x="1783080" y="3794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Vše řeší zdarma</a:t>
            </a:r>
            <a:endParaRPr lang="en-US" sz="1400" dirty="0"/>
          </a:p>
        </p:txBody>
      </p:sp>
      <p:sp>
        <p:nvSpPr>
          <p:cNvPr id="18" name="Finding 4"/>
          <p:cNvSpPr/>
          <p:nvPr/>
        </p:nvSpPr>
        <p:spPr>
          <a:xfrm>
            <a:off x="4709160" y="2971800"/>
            <a:ext cx="3886200" cy="146304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/>
        </p:spPr>
        <p:txBody>
          <a:bodyPr/>
          <a:lstStyle/>
          <a:p>
            <a:endParaRPr lang="cs-CZ"/>
          </a:p>
        </p:txBody>
      </p:sp>
      <p:sp>
        <p:nvSpPr>
          <p:cNvPr id="19" name="Klienti chodí přes Instagram icon circle"/>
          <p:cNvSpPr/>
          <p:nvPr/>
        </p:nvSpPr>
        <p:spPr>
          <a:xfrm>
            <a:off x="4983480" y="3337560"/>
            <a:ext cx="731520" cy="731520"/>
          </a:xfrm>
          <a:prstGeom prst="ellipse">
            <a:avLst/>
          </a:prstGeom>
          <a:solidFill>
            <a:schemeClr val="tx2"/>
          </a:solidFill>
          <a:ln/>
        </p:spPr>
        <p:txBody>
          <a:bodyPr/>
          <a:lstStyle/>
          <a:p>
            <a:endParaRPr lang="cs-CZ"/>
          </a:p>
        </p:txBody>
      </p:sp>
      <p:pic>
        <p:nvPicPr>
          <p:cNvPr id="20" name="Klienti chodí přes Instagram icon" descr="Klienti chodí přes Instagram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66360" y="3520440"/>
            <a:ext cx="365760" cy="365760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5943600" y="32918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en-US" sz="2000" b="1" dirty="0">
                <a:solidFill>
                  <a:schemeClr val="tx1"/>
                </a:solidFill>
              </a:rPr>
              <a:t>Klienti chodí přes Instagram</a:t>
            </a:r>
            <a:endParaRPr lang="en-US" sz="2000" dirty="0"/>
          </a:p>
        </p:txBody>
      </p:sp>
      <p:sp>
        <p:nvSpPr>
          <p:cNvPr id="22" name="Text 16"/>
          <p:cNvSpPr txBox="1"/>
          <p:nvPr/>
        </p:nvSpPr>
        <p:spPr>
          <a:xfrm>
            <a:off x="5943600" y="3794760"/>
            <a:ext cx="2423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dirty="0">
                <a:solidFill>
                  <a:schemeClr val="accent4"/>
                </a:solidFill>
              </a:rPr>
              <a:t>Hlavní kanál pro nové klienty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chemeClr val="tx1"/>
                </a:solidFill>
              </a:rPr>
              <a:t>Product Backlog v1</a:t>
            </a: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6576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cs-CZ" sz="3200" dirty="0"/>
              <a:t>Design</a:t>
            </a:r>
            <a:endParaRPr lang="en-US" sz="3200" dirty="0"/>
          </a:p>
        </p:txBody>
      </p:sp>
      <p:sp>
        <p:nvSpPr>
          <p:cNvPr id="3" name="Text 1"/>
          <p:cNvSpPr>
            <a:spLocks noGrp="1"/>
          </p:cNvSpPr>
          <p:nvPr>
            <p:ph idx="102" hasCustomPrompt="1"/>
          </p:nvPr>
        </p:nvSpPr>
        <p:spPr>
          <a:xfrm>
            <a:off x="548640" y="1188720"/>
            <a:ext cx="8046720" cy="329184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marL="0" indent="0">
              <a:buNone/>
            </a:pP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66344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rainLoop">
  <a:themeElements>
    <a:clrScheme name="TrainLoop">
      <a:dk1>
        <a:srgbClr val="1F2A24"/>
      </a:dk1>
      <a:lt1>
        <a:srgbClr val="FFFFFF"/>
      </a:lt1>
      <a:dk2>
        <a:srgbClr val="2F6B4F"/>
      </a:dk2>
      <a:lt2>
        <a:srgbClr val="EEF3EF"/>
      </a:lt2>
      <a:accent1>
        <a:srgbClr val="2F6B4F"/>
      </a:accent1>
      <a:accent2>
        <a:srgbClr val="B07522"/>
      </a:accent2>
      <a:accent3>
        <a:srgbClr val="B5483B"/>
      </a:accent3>
      <a:accent4>
        <a:srgbClr val="6E7872"/>
      </a:accent4>
      <a:accent5>
        <a:srgbClr val="97BC62"/>
      </a:accent5>
      <a:accent6>
        <a:srgbClr val="50808E"/>
      </a:accent6>
      <a:hlink>
        <a:srgbClr val="2F6B4F"/>
      </a:hlink>
      <a:folHlink>
        <a:srgbClr val="50808E"/>
      </a:folHlink>
    </a:clrScheme>
    <a:fontScheme name="TrainLoop">
      <a:majorFont>
        <a:latin typeface="Calibr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Motiv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90</TotalTime>
  <Words>271</Words>
  <Application>Microsoft Office PowerPoint</Application>
  <PresentationFormat>Předvádění na obrazovce (16:9)</PresentationFormat>
  <Paragraphs>106</Paragraphs>
  <Slides>13</Slides>
  <Notes>9</Notes>
  <HiddenSlides>0</HiddenSlides>
  <MMClips>0</MMClips>
  <ScaleCrop>false</ScaleCrop>
  <HeadingPairs>
    <vt:vector size="6" baseType="variant">
      <vt:variant>
        <vt:lpstr>Použitá písma</vt:lpstr>
      </vt:variant>
      <vt:variant>
        <vt:i4>2</vt:i4>
      </vt:variant>
      <vt:variant>
        <vt:lpstr>Motiv</vt:lpstr>
      </vt:variant>
      <vt:variant>
        <vt:i4>1</vt:i4>
      </vt:variant>
      <vt:variant>
        <vt:lpstr>Nadpisy snímků</vt:lpstr>
      </vt:variant>
      <vt:variant>
        <vt:i4>13</vt:i4>
      </vt:variant>
    </vt:vector>
  </HeadingPairs>
  <TitlesOfParts>
    <vt:vector size="16" baseType="lpstr">
      <vt:lpstr>Arial</vt:lpstr>
      <vt:lpstr>Calibri</vt:lpstr>
      <vt:lpstr>TrainLoop</vt:lpstr>
      <vt:lpstr>TrainLoop</vt:lpstr>
      <vt:lpstr>Obsah</vt:lpstr>
      <vt:lpstr>Lean Canvas MPV</vt:lpstr>
      <vt:lpstr>Lean Canvas PREMIUM</vt:lpstr>
      <vt:lpstr>Náklady provoz</vt:lpstr>
      <vt:lpstr>Náklady vývoj</vt:lpstr>
      <vt:lpstr>Náklady celkem</vt:lpstr>
      <vt:lpstr>Feature breakdown</vt:lpstr>
      <vt:lpstr>Výzkumné cíle</vt:lpstr>
      <vt:lpstr>Hypotézy</vt:lpstr>
      <vt:lpstr>Hlavní zjištění</vt:lpstr>
      <vt:lpstr>Product Backlog v1</vt:lpstr>
      <vt:lpstr>Design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TrainLoop</dc:title>
  <dc:subject>PptxGenJS Presentation</dc:subject>
  <dc:creator>PptxGenJS</dc:creator>
  <cp:lastModifiedBy>Mikuláš Bílek</cp:lastModifiedBy>
  <cp:revision>3</cp:revision>
  <dcterms:created xsi:type="dcterms:W3CDTF">2026-10-11T08:26:48Z</dcterms:created>
  <dcterms:modified xsi:type="dcterms:W3CDTF">2026-10-11T10:03:14Z</dcterms:modified>
</cp:coreProperties>
</file>