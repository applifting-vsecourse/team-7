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9" r:id="rId5"/>
    <p:sldId id="272" r:id="rId6"/>
    <p:sldId id="266" r:id="rId7"/>
    <p:sldId id="267" r:id="rId8"/>
    <p:sldId id="271" r:id="rId9"/>
    <p:sldId id="270" r:id="rId10"/>
    <p:sldId id="268" r:id="rId11"/>
    <p:sldId id="259" r:id="rId12"/>
    <p:sldId id="261" r:id="rId13"/>
    <p:sldId id="262" r:id="rId14"/>
    <p:sldId id="263" r:id="rId15"/>
    <p:sldId id="264" r:id="rId16"/>
    <p:sldId id="265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4158F83B-D457-C380-BA14-89921A8EA703}">
          <p14:sldIdLst>
            <p14:sldId id="256"/>
            <p14:sldId id="257"/>
          </p14:sldIdLst>
        </p14:section>
        <p14:section name="Lean Canvas" id="{42DDE070-6149-D673-50ED-8C1BD64AC784}">
          <p14:sldIdLst>
            <p14:sldId id="258"/>
            <p14:sldId id="269"/>
            <p14:sldId id="272"/>
            <p14:sldId id="266"/>
            <p14:sldId id="267"/>
            <p14:sldId id="271"/>
            <p14:sldId id="270"/>
            <p14:sldId id="268"/>
          </p14:sldIdLst>
        </p14:section>
        <p14:section name="Feature breakdown" id="{FCB245BC-88F0-8361-58DA-0203F0449886}">
          <p14:sldIdLst>
            <p14:sldId id="259"/>
          </p14:sldIdLst>
        </p14:section>
        <p14:section name="Rozhovor" id="{FAE15B04-544D-8BF1-CF2D-89B31624A8B6}">
          <p14:sldIdLst>
            <p14:sldId id="261"/>
            <p14:sldId id="262"/>
            <p14:sldId id="263"/>
          </p14:sldIdLst>
        </p14:section>
        <p14:section name="Product Backlog" id="{F645C0FF-2684-3F17-DF68-32D364C3AC5A}">
          <p14:sldIdLst>
            <p14:sldId id="264"/>
          </p14:sldIdLst>
        </p14:section>
        <p14:section name="Design" id="{6B88DEAC-68DA-2E02-CF89-AADA430156F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270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Vložte obrázek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TrainLoop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Plánovač a tréninkový deník pro psa · Tým 7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Obsah</a:t>
            </a:r>
            <a:endParaRPr lang="en-US" sz="3200" dirty="0"/>
          </a:p>
        </p:txBody>
      </p:sp>
      <p:sp>
        <p:nvSpPr>
          <p:cNvPr id="3" name="Agenda 1"/>
          <p:cNvSpPr/>
          <p:nvPr/>
        </p:nvSpPr>
        <p:spPr>
          <a:xfrm>
            <a:off x="54864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Lean Canvas</a:t>
            </a:r>
            <a:endParaRPr lang="en-US" sz="1800" dirty="0"/>
          </a:p>
        </p:txBody>
      </p:sp>
      <p:sp>
        <p:nvSpPr>
          <p:cNvPr id="6" name="Agenda 2"/>
          <p:cNvSpPr/>
          <p:nvPr/>
        </p:nvSpPr>
        <p:spPr>
          <a:xfrm>
            <a:off x="332232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 txBox="1"/>
          <p:nvPr/>
        </p:nvSpPr>
        <p:spPr>
          <a:xfrm>
            <a:off x="359664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59664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Feature breakdown</a:t>
            </a:r>
            <a:endParaRPr lang="en-US" sz="1800" dirty="0"/>
          </a:p>
        </p:txBody>
      </p:sp>
      <p:sp>
        <p:nvSpPr>
          <p:cNvPr id="9" name="Agenda 3"/>
          <p:cNvSpPr/>
          <p:nvPr/>
        </p:nvSpPr>
        <p:spPr>
          <a:xfrm>
            <a:off x="609600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 txBox="1"/>
          <p:nvPr/>
        </p:nvSpPr>
        <p:spPr>
          <a:xfrm>
            <a:off x="63703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37032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Rozhovor a zjištění</a:t>
            </a:r>
            <a:endParaRPr lang="en-US" sz="1800" dirty="0"/>
          </a:p>
        </p:txBody>
      </p:sp>
      <p:sp>
        <p:nvSpPr>
          <p:cNvPr id="12" name="Agenda 4"/>
          <p:cNvSpPr/>
          <p:nvPr/>
        </p:nvSpPr>
        <p:spPr>
          <a:xfrm>
            <a:off x="54864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 txBox="1"/>
          <p:nvPr/>
        </p:nvSpPr>
        <p:spPr>
          <a:xfrm>
            <a:off x="82296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Product Backlog</a:t>
            </a:r>
            <a:endParaRPr lang="en-US" sz="1800" dirty="0"/>
          </a:p>
        </p:txBody>
      </p:sp>
      <p:sp>
        <p:nvSpPr>
          <p:cNvPr id="15" name="Agenda 5"/>
          <p:cNvSpPr/>
          <p:nvPr/>
        </p:nvSpPr>
        <p:spPr>
          <a:xfrm>
            <a:off x="332232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 txBox="1"/>
          <p:nvPr/>
        </p:nvSpPr>
        <p:spPr>
          <a:xfrm>
            <a:off x="359664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59664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Sitemapa a wireframy</a:t>
            </a:r>
            <a:endParaRPr lang="en-US" sz="1800" dirty="0"/>
          </a:p>
        </p:txBody>
      </p:sp>
      <p:sp>
        <p:nvSpPr>
          <p:cNvPr id="18" name="Agenda 6"/>
          <p:cNvSpPr/>
          <p:nvPr/>
        </p:nvSpPr>
        <p:spPr>
          <a:xfrm>
            <a:off x="609600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 txBox="1"/>
          <p:nvPr/>
        </p:nvSpPr>
        <p:spPr>
          <a:xfrm>
            <a:off x="637032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7032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verze designu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430E3DDA-79C1-4487-DC8C-7E98F739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314" y="109255"/>
            <a:ext cx="6588615" cy="4924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14082DD6-0970-83D8-76CD-D09A70F36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58" y="0"/>
            <a:ext cx="68392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249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E6F4EF9-34CC-9D80-8FC2-E688DA9CC21C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 err="1"/>
              <a:t>Lean</a:t>
            </a:r>
            <a:r>
              <a:rPr lang="cs-CZ" dirty="0"/>
              <a:t> </a:t>
            </a:r>
            <a:r>
              <a:rPr lang="cs-CZ" dirty="0" err="1"/>
              <a:t>canvas</a:t>
            </a:r>
            <a:r>
              <a:rPr lang="cs-CZ" dirty="0"/>
              <a:t> shrnutí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0ADB9DC-55B5-83F1-D892-38D2DF8AD5E1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r>
              <a:rPr lang="cs-CZ" sz="2000" dirty="0"/>
              <a:t>MVP je čistě ztrátové</a:t>
            </a:r>
          </a:p>
          <a:p>
            <a:r>
              <a:rPr lang="cs-CZ" sz="2000" dirty="0"/>
              <a:t>Až verze s monetizačními prvky začíná vydělávat peníze</a:t>
            </a:r>
          </a:p>
          <a:p>
            <a:r>
              <a:rPr lang="cs-CZ" sz="2000" dirty="0"/>
              <a:t>Aplikace počítá s trenérem</a:t>
            </a:r>
          </a:p>
          <a:p>
            <a:r>
              <a:rPr lang="cs-CZ" sz="2000" dirty="0"/>
              <a:t>Síťový efekt: trenér přivede klienty, ti zůstávají kvůli němu</a:t>
            </a:r>
          </a:p>
          <a:p>
            <a:r>
              <a:rPr lang="cs-CZ" sz="2000" dirty="0"/>
              <a:t>Aplikace nabízí uživatelům větší svobodu než konkurence</a:t>
            </a:r>
          </a:p>
        </p:txBody>
      </p:sp>
    </p:spTree>
    <p:extLst>
      <p:ext uri="{BB962C8B-B14F-4D97-AF65-F5344CB8AC3E}">
        <p14:creationId xmlns:p14="http://schemas.microsoft.com/office/powerpoint/2010/main" val="2417321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81074E-E51E-E26D-2AF3-9E26B7B9CC31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provoz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BF3E03B-C1D9-CF12-5B28-1865908988D5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7B168A60-ED97-3F40-751E-8BB77AD78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57" y="881431"/>
            <a:ext cx="8850086" cy="389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289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42D26D3-BC43-A403-DA56-3360055EBB9D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vývoj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53DEB53-2CD3-5A81-1544-E70522CDB707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C058C965-C706-A4A4-C434-4AF1531AA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77" y="1117760"/>
            <a:ext cx="8288383" cy="343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788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1C1C39-5D2F-24C0-6274-668A8ECC37F6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Ceník</a:t>
            </a:r>
          </a:p>
        </p:txBody>
      </p:sp>
      <p:graphicFrame>
        <p:nvGraphicFramePr>
          <p:cNvPr id="4" name="Zástupný obsah 3">
            <a:extLst>
              <a:ext uri="{FF2B5EF4-FFF2-40B4-BE49-F238E27FC236}">
                <a16:creationId xmlns:a16="http://schemas.microsoft.com/office/drawing/2014/main" id="{2F45A592-3597-C03D-AF6A-030B0DEA06F5}"/>
              </a:ext>
            </a:extLst>
          </p:cNvPr>
          <p:cNvGraphicFramePr>
            <a:graphicFrameLocks noGrp="1"/>
          </p:cNvGraphicFramePr>
          <p:nvPr>
            <p:ph idx="102"/>
            <p:extLst>
              <p:ext uri="{D42A27DB-BD31-4B8C-83A1-F6EECF244321}">
                <p14:modId xmlns:p14="http://schemas.microsoft.com/office/powerpoint/2010/main" val="794893515"/>
              </p:ext>
            </p:extLst>
          </p:nvPr>
        </p:nvGraphicFramePr>
        <p:xfrm>
          <a:off x="431710" y="1402898"/>
          <a:ext cx="8045449" cy="31765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9705">
                  <a:extLst>
                    <a:ext uri="{9D8B030D-6E8A-4147-A177-3AD203B41FA5}">
                      <a16:colId xmlns:a16="http://schemas.microsoft.com/office/drawing/2014/main" val="3111882005"/>
                    </a:ext>
                  </a:extLst>
                </a:gridCol>
                <a:gridCol w="839786">
                  <a:extLst>
                    <a:ext uri="{9D8B030D-6E8A-4147-A177-3AD203B41FA5}">
                      <a16:colId xmlns:a16="http://schemas.microsoft.com/office/drawing/2014/main" val="1126504626"/>
                    </a:ext>
                  </a:extLst>
                </a:gridCol>
                <a:gridCol w="682326">
                  <a:extLst>
                    <a:ext uri="{9D8B030D-6E8A-4147-A177-3AD203B41FA5}">
                      <a16:colId xmlns:a16="http://schemas.microsoft.com/office/drawing/2014/main" val="1534827293"/>
                    </a:ext>
                  </a:extLst>
                </a:gridCol>
                <a:gridCol w="682326">
                  <a:extLst>
                    <a:ext uri="{9D8B030D-6E8A-4147-A177-3AD203B41FA5}">
                      <a16:colId xmlns:a16="http://schemas.microsoft.com/office/drawing/2014/main" val="1256171656"/>
                    </a:ext>
                  </a:extLst>
                </a:gridCol>
                <a:gridCol w="682326">
                  <a:extLst>
                    <a:ext uri="{9D8B030D-6E8A-4147-A177-3AD203B41FA5}">
                      <a16:colId xmlns:a16="http://schemas.microsoft.com/office/drawing/2014/main" val="2717921277"/>
                    </a:ext>
                  </a:extLst>
                </a:gridCol>
                <a:gridCol w="739811">
                  <a:extLst>
                    <a:ext uri="{9D8B030D-6E8A-4147-A177-3AD203B41FA5}">
                      <a16:colId xmlns:a16="http://schemas.microsoft.com/office/drawing/2014/main" val="3641688168"/>
                    </a:ext>
                  </a:extLst>
                </a:gridCol>
                <a:gridCol w="3259169">
                  <a:extLst>
                    <a:ext uri="{9D8B030D-6E8A-4147-A177-3AD203B41FA5}">
                      <a16:colId xmlns:a16="http://schemas.microsoft.com/office/drawing/2014/main" val="748823806"/>
                    </a:ext>
                  </a:extLst>
                </a:gridCol>
              </a:tblGrid>
              <a:tr h="277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cs-CZ" sz="1400" u="none" strike="noStrike" dirty="0">
                          <a:effectLst/>
                        </a:rPr>
                        <a:t>Tarif</a:t>
                      </a:r>
                      <a:endParaRPr lang="cs-CZ" sz="14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Pro koho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CZK / měs.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EUR / měs.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USD / měs.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CZK / rok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Co obsahuje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extLst>
                  <a:ext uri="{0D108BD9-81ED-4DB2-BD59-A6C34878D82A}">
                    <a16:rowId xmlns:a16="http://schemas.microsoft.com/office/drawing/2014/main" val="4025647948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Zdarma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Páníček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pes, 2 aktivní plány, deník tréninků, reklamy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042813921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Plus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Páníček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99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$4,99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790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2 psi, neomezeně plánů, bez reklam, statistiky, sdílení s rodinou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1641785257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Další pes k Plus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Páníček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29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0,99 €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$0,99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za 3. a každého dalšího psa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3784220910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Pro 20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Trenér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199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7,99 €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$8,99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1 990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až 20 psů klientů, +12 Kč za každého psa navíc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41018225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Pro+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Trenér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399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15,99 €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$17,99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3 990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až 60 psů klientů, +6 Kč za psa navíc, vlastní logo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1990087838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Škola S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Psí škola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549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21,99 €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$24,99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 trenéři, 60 psů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050101253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Škola M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Psí škola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1 090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43,99 €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$49,99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8 trenérů, 180 psů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175352557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Škola 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Psí škola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1 990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79,99 €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$89,99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 dirty="0">
                          <a:effectLst/>
                        </a:rPr>
                        <a:t>neomezeně trenérů, 450 psů</a:t>
                      </a:r>
                      <a:endParaRPr lang="cs-CZ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1936927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5529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F47AAF-33CD-E34B-C50A-D39500C27D22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Výnosy</a:t>
            </a:r>
          </a:p>
        </p:txBody>
      </p:sp>
      <p:graphicFrame>
        <p:nvGraphicFramePr>
          <p:cNvPr id="4" name="Zástupný obsah 3">
            <a:extLst>
              <a:ext uri="{FF2B5EF4-FFF2-40B4-BE49-F238E27FC236}">
                <a16:creationId xmlns:a16="http://schemas.microsoft.com/office/drawing/2014/main" id="{3677077F-038D-3232-E6B5-F39A78AE481E}"/>
              </a:ext>
            </a:extLst>
          </p:cNvPr>
          <p:cNvGraphicFramePr>
            <a:graphicFrameLocks noGrp="1"/>
          </p:cNvGraphicFramePr>
          <p:nvPr>
            <p:ph idx="102"/>
            <p:extLst>
              <p:ext uri="{D42A27DB-BD31-4B8C-83A1-F6EECF244321}">
                <p14:modId xmlns:p14="http://schemas.microsoft.com/office/powerpoint/2010/main" val="3308727491"/>
              </p:ext>
            </p:extLst>
          </p:nvPr>
        </p:nvGraphicFramePr>
        <p:xfrm>
          <a:off x="548640" y="1923472"/>
          <a:ext cx="7559582" cy="1870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1450">
                  <a:extLst>
                    <a:ext uri="{9D8B030D-6E8A-4147-A177-3AD203B41FA5}">
                      <a16:colId xmlns:a16="http://schemas.microsoft.com/office/drawing/2014/main" val="1312080678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2066986468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2545838898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1810339272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3538583930"/>
                    </a:ext>
                  </a:extLst>
                </a:gridCol>
              </a:tblGrid>
              <a:tr h="5914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cs-CZ" sz="1600" u="none" strike="noStrike" dirty="0">
                          <a:effectLst/>
                        </a:rPr>
                        <a:t>Výnos za měsíc (základ)</a:t>
                      </a:r>
                      <a:endParaRPr lang="cs-CZ" sz="16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 dirty="0">
                          <a:effectLst/>
                        </a:rPr>
                        <a:t>1 500 MAU</a:t>
                      </a:r>
                      <a:endParaRPr lang="cs-CZ" sz="16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5 000 MAU</a:t>
                      </a:r>
                      <a:endParaRPr lang="cs-CZ" sz="16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10 000 MAU</a:t>
                      </a:r>
                      <a:endParaRPr lang="cs-CZ" sz="16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50 000 MAU</a:t>
                      </a:r>
                      <a:endParaRPr lang="cs-CZ" sz="16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56519747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Předplatné</a:t>
                      </a: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3 740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13 570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28 210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141 080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1344847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Reklamy</a:t>
                      </a: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340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1 550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4 260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29 240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648756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Celkem za měsíc</a:t>
                      </a:r>
                      <a:endParaRPr lang="cs-CZ" sz="16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4 080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b="1" u="none" strike="noStrike" dirty="0">
                          <a:effectLst/>
                        </a:rPr>
                        <a:t>15 120 </a:t>
                      </a:r>
                      <a:r>
                        <a:rPr lang="cs-CZ" sz="1600" u="none" strike="noStrike" dirty="0">
                          <a:effectLst/>
                        </a:rPr>
                        <a:t>Kč</a:t>
                      </a:r>
                      <a:endParaRPr lang="cs-CZ" sz="1600" b="1" i="0" u="none" strike="noStrike" dirty="0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32 470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170 320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60988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Celkem za rok</a:t>
                      </a:r>
                      <a:endParaRPr lang="cs-CZ" sz="16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48 960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181 440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389 640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 dirty="0">
                          <a:effectLst/>
                        </a:rPr>
                        <a:t>2 043 840 Kč</a:t>
                      </a:r>
                      <a:endParaRPr lang="cs-CZ" sz="1600" b="1" i="0" u="none" strike="noStrike" dirty="0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00143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177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0BA6760-047F-1FB7-BB44-F8164DD7679C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celkem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33CCD9-B606-29AF-BDA1-77E2FB18590C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r>
              <a:rPr lang="cs-CZ" sz="2400" dirty="0"/>
              <a:t>MVP – 1 189 616 Kč</a:t>
            </a:r>
          </a:p>
          <a:p>
            <a:r>
              <a:rPr lang="cs-CZ" sz="2400" dirty="0"/>
              <a:t>PREMIUM – 347 083 Kč</a:t>
            </a:r>
          </a:p>
          <a:p>
            <a:endParaRPr lang="cs-CZ" sz="2400" dirty="0"/>
          </a:p>
          <a:p>
            <a:r>
              <a:rPr lang="cs-CZ" sz="2400" dirty="0"/>
              <a:t>Provozní náklady CCA 20 892 Kč/</a:t>
            </a:r>
            <a:r>
              <a:rPr lang="cs-CZ" sz="2400" dirty="0" err="1"/>
              <a:t>měs</a:t>
            </a:r>
            <a:endParaRPr lang="cs-CZ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dirty="0"/>
              <a:t>Pro 5250 aktivních uživatelů</a:t>
            </a:r>
          </a:p>
          <a:p>
            <a:r>
              <a:rPr lang="cs-CZ" sz="2400" dirty="0"/>
              <a:t>Výnosy pro 5000 uživatelů tvoří 15 120 Kč/</a:t>
            </a:r>
            <a:r>
              <a:rPr lang="cs-CZ" sz="2400" dirty="0" err="1"/>
              <a:t>měs</a:t>
            </a:r>
            <a:endParaRPr lang="cs-CZ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dirty="0"/>
              <a:t>Od 10 000 aktivních uživatelů 32 470 Kč/</a:t>
            </a:r>
            <a:r>
              <a:rPr lang="cs-CZ" sz="2400" dirty="0" err="1"/>
              <a:t>měs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3316525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Feature breakdown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03E80000-044D-630F-4644-1B4250E8A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5364"/>
            <a:ext cx="9144000" cy="37785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Výzkumné cíle</a:t>
            </a:r>
            <a:endParaRPr lang="en-US" sz="3200" dirty="0"/>
          </a:p>
        </p:txBody>
      </p:sp>
      <p:graphicFrame>
        <p:nvGraphicFramePr>
          <p:cNvPr id="7" name="Goa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07238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Cíl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Zjištění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Komunikace trenér ↔ klient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WhatsApp, 4–6 zpráv denně, 40–50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Podklady od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Videa ke kontrole a dotazy k úkolům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Plány a jejich úpravy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Konzultace → domácí úkoly, ~5 stejných oblastí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Peníze a nástroje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Rezervační systém, WhatsApp, sešity – nic placeného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Vlastní psi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~150 sešitů, podrobný volný text, bez škály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 jako hotový celek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Nechce sdílet videa, tréninky se liší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Cesty k trenérům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Noví klienti přes Instagram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Hypotézy</a:t>
            </a:r>
            <a:endParaRPr lang="en-US" sz="3200" dirty="0"/>
          </a:p>
        </p:txBody>
      </p:sp>
      <p:graphicFrame>
        <p:nvGraphicFramePr>
          <p:cNvPr id="8" name="Hypothes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918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Hypotéza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Výsledek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Komunikace s klienty probíhá u všech podobně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klientům průběžně upravuje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Orientace v podkladech ji stojí čas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E7872"/>
                          </a:solidFill>
                        </a:rPr>
                        <a:t>Nezjištěno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Za nástroj šetřící čas by platila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nebere jako produkt k prodeji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Vlastní psy plánuje méně formálně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Klienti chtějí zůstat u chatu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H8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Pokrok posuzuje z videa, ne z procent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Hlavní zjištění</a:t>
            </a:r>
            <a:endParaRPr lang="en-US" sz="3200" dirty="0"/>
          </a:p>
        </p:txBody>
      </p:sp>
      <p:sp>
        <p:nvSpPr>
          <p:cNvPr id="3" name="Finding 1"/>
          <p:cNvSpPr/>
          <p:nvPr/>
        </p:nvSpPr>
        <p:spPr>
          <a:xfrm>
            <a:off x="54864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Fotky nepotřebuje icon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5" name="Fotky nepotřebuje icon" descr="Fotky nepotřebu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Fotky nepotřebuje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Stačí jí videa a zprávy</a:t>
            </a:r>
            <a:endParaRPr lang="en-US" sz="1400" dirty="0"/>
          </a:p>
        </p:txBody>
      </p:sp>
      <p:sp>
        <p:nvSpPr>
          <p:cNvPr id="8" name="Finding 2"/>
          <p:cNvSpPr/>
          <p:nvPr/>
        </p:nvSpPr>
        <p:spPr>
          <a:xfrm>
            <a:off x="470916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Procenta nezapisuje icon circle"/>
          <p:cNvSpPr/>
          <p:nvPr/>
        </p:nvSpPr>
        <p:spPr>
          <a:xfrm>
            <a:off x="498348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0" name="Procenta nezapisuje icon" descr="Procenta nezapisu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83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Procenta nezapisuje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Pokrok popisuje slovy</a:t>
            </a:r>
            <a:endParaRPr lang="en-US" sz="1400" dirty="0"/>
          </a:p>
        </p:txBody>
      </p:sp>
      <p:sp>
        <p:nvSpPr>
          <p:cNvPr id="13" name="Finding 3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Žádné placené nástroje icon circle"/>
          <p:cNvSpPr/>
          <p:nvPr/>
        </p:nvSpPr>
        <p:spPr>
          <a:xfrm>
            <a:off x="82296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5" name="Žádné placené nástroje icon" descr="Žádné placené nástroj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520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Žádné placené nástroje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Vše řeší zdarma</a:t>
            </a:r>
            <a:endParaRPr lang="en-US" sz="1400" dirty="0"/>
          </a:p>
        </p:txBody>
      </p:sp>
      <p:sp>
        <p:nvSpPr>
          <p:cNvPr id="18" name="Finding 4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Klienti chodí přes Instagram icon circle"/>
          <p:cNvSpPr/>
          <p:nvPr/>
        </p:nvSpPr>
        <p:spPr>
          <a:xfrm>
            <a:off x="498348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0" name="Klienti chodí přes Instagram icon" descr="Klienti chodí přes Inst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3520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Klienti chodí přes Instagram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Hlavní kanál pro nové klienty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Backlog v1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s-CZ" sz="3200" dirty="0"/>
              <a:t>Design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inLoop">
  <a:themeElements>
    <a:clrScheme name="TrainLoop">
      <a:dk1>
        <a:srgbClr val="1F2A24"/>
      </a:dk1>
      <a:lt1>
        <a:srgbClr val="FFFFFF"/>
      </a:lt1>
      <a:dk2>
        <a:srgbClr val="2F6B4F"/>
      </a:dk2>
      <a:lt2>
        <a:srgbClr val="EEF3EF"/>
      </a:lt2>
      <a:accent1>
        <a:srgbClr val="2F6B4F"/>
      </a:accent1>
      <a:accent2>
        <a:srgbClr val="B07522"/>
      </a:accent2>
      <a:accent3>
        <a:srgbClr val="B5483B"/>
      </a:accent3>
      <a:accent4>
        <a:srgbClr val="6E7872"/>
      </a:accent4>
      <a:accent5>
        <a:srgbClr val="97BC62"/>
      </a:accent5>
      <a:accent6>
        <a:srgbClr val="50808E"/>
      </a:accent6>
      <a:hlink>
        <a:srgbClr val="2F6B4F"/>
      </a:hlink>
      <a:folHlink>
        <a:srgbClr val="50808E"/>
      </a:folHlink>
    </a:clrScheme>
    <a:fontScheme name="TrainLo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578</Words>
  <Application>Microsoft Office PowerPoint</Application>
  <PresentationFormat>Předvádění na obrazovce (16:9)</PresentationFormat>
  <Paragraphs>199</Paragraphs>
  <Slides>16</Slides>
  <Notes>9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16</vt:i4>
      </vt:variant>
    </vt:vector>
  </HeadingPairs>
  <TitlesOfParts>
    <vt:vector size="19" baseType="lpstr">
      <vt:lpstr>Arial</vt:lpstr>
      <vt:lpstr>Calibri</vt:lpstr>
      <vt:lpstr>TrainLoop</vt:lpstr>
      <vt:lpstr>TrainLoop</vt:lpstr>
      <vt:lpstr>Obsah</vt:lpstr>
      <vt:lpstr>Prezentace aplikace PowerPoint</vt:lpstr>
      <vt:lpstr>Prezentace aplikace PowerPoint</vt:lpstr>
      <vt:lpstr>Lean canvas shrnutí</vt:lpstr>
      <vt:lpstr>Náklady provoz</vt:lpstr>
      <vt:lpstr>Náklady vývoj</vt:lpstr>
      <vt:lpstr>Ceník</vt:lpstr>
      <vt:lpstr>Výnosy</vt:lpstr>
      <vt:lpstr>Náklady celkem</vt:lpstr>
      <vt:lpstr>Feature breakdown</vt:lpstr>
      <vt:lpstr>Výzkumné cíle</vt:lpstr>
      <vt:lpstr>Hypotézy</vt:lpstr>
      <vt:lpstr>Hlavní zjištění</vt:lpstr>
      <vt:lpstr>Product Backlog v1</vt:lpstr>
      <vt:lpstr>Design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TrainLoop</dc:title>
  <dc:subject>PptxGenJS Presentation</dc:subject>
  <dc:creator>PptxGenJS</dc:creator>
  <cp:lastModifiedBy>Mikuláš Bílek</cp:lastModifiedBy>
  <cp:revision>5</cp:revision>
  <dcterms:created xsi:type="dcterms:W3CDTF">2026-10-11T08:26:48Z</dcterms:created>
  <dcterms:modified xsi:type="dcterms:W3CDTF">2026-10-11T12:03:44Z</dcterms:modified>
</cp:coreProperties>
</file>